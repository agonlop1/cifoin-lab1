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95" r:id="rId6"/>
    <p:sldId id="290" r:id="rId7"/>
    <p:sldId id="301" r:id="rId8"/>
    <p:sldId id="302" r:id="rId9"/>
    <p:sldId id="291" r:id="rId10"/>
    <p:sldId id="292" r:id="rId11"/>
    <p:sldId id="297" r:id="rId12"/>
    <p:sldId id="293" r:id="rId13"/>
    <p:sldId id="298" r:id="rId14"/>
    <p:sldId id="299" r:id="rId15"/>
    <p:sldId id="300" r:id="rId16"/>
    <p:sldId id="303" r:id="rId17"/>
    <p:sldId id="288" r:id="rId18"/>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4A45F5-DA44-4CA8-BC02-97B925A2BB69}" v="7095" dt="2026-03-13T12:45:17.23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14/03/2026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14/03/2026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0369-A436-A031-2C11-0F20AC2DDA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3EFF84-3356-DB6D-F639-D0C97F84F0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2F2BE1-46AC-7485-1716-309224CB0DF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DDAD35E5-DBFD-B1B4-8CE0-C860BFC7A64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035174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8D6D5-2E96-8B3A-10DF-F4D69A1308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A25BFE-2BCC-7AE5-732D-DC0CCF9D5C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8E1633-E1BE-133C-2EAE-308CEBBE09A1}"/>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3B03C0D-6D1F-3FE6-FA3A-4B9B2C75725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975608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99EFE-82AF-5A5C-4B8E-ACFF175FEA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54B3CC-063F-68F1-3548-8E9200E27C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E94CF2-E8F6-753D-0CD6-D0CAB17A8B9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CC98594-8513-2882-618C-62D886BE25E5}"/>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272766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EAA89-7A8A-123B-0F3C-9F7DC21F82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6CEA7B-883C-E903-8DA2-40C4934CCBE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FFC20D-580E-9E54-FBDD-46D314CADCB9}"/>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1B9BFD4-DD54-FD55-070C-FEAFAEE9D6DC}"/>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1483175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85BA8-A1AC-74F8-3C00-C6F6F85C7B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5DC797-CA07-5C84-CE96-B06B262A71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EF4F3B-8421-EE39-918F-5B357FFF6F3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571FE57C-5913-4B28-F3EE-858E2A67E875}"/>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815414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EF8B-5A61-A01B-6F90-E9973FE112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E6D530-F6BA-1E4C-0C04-625C9450BF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C9CC4B-3AC8-2298-E65B-CD59519236B8}"/>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FD374FBC-D70B-AE23-22E7-CA5FBA20739A}"/>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105577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8.sv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4.sv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33.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1.0. </a:t>
            </a:r>
            <a:r>
              <a:rPr lang="es-ES" sz="3200" b="1" err="1">
                <a:latin typeface="Lucida Sans"/>
                <a:cs typeface="Lucida Sans"/>
              </a:rPr>
              <a:t>Waveguides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Antonio González López – María Ros Téllez </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WAVEGUIDES_Student.ipynb</a:t>
            </a:r>
            <a:r>
              <a:rPr lang="en-US" kern="0">
                <a:solidFill>
                  <a:sysClr val="windowText" lastClr="000000"/>
                </a:solidFill>
              </a:rPr>
              <a:t> </a:t>
            </a:r>
          </a:p>
          <a:p>
            <a:pPr algn="just"/>
            <a:endParaRPr lang="en-US" sz="2000" b="1" i="1" u="sng"/>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a:latin typeface="Times New Roman"/>
              <a:cs typeface="Times New Roman"/>
            </a:endParaRPr>
          </a:p>
          <a:p>
            <a:pPr marL="18415">
              <a:lnSpc>
                <a:spcPct val="100000"/>
              </a:lnSpc>
            </a:pPr>
            <a:r>
              <a:rPr lang="es-ES" sz="1600" b="1" spc="-10" err="1">
                <a:latin typeface="Calibri"/>
                <a:cs typeface="Calibri"/>
              </a:rPr>
              <a:t>Slab</a:t>
            </a:r>
            <a:endParaRPr sz="160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err="1">
                <a:latin typeface="Calibri"/>
                <a:cs typeface="Calibri"/>
              </a:rPr>
              <a:t>h_slab</a:t>
            </a:r>
            <a:endParaRPr sz="140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err="1">
                <a:latin typeface="Calibri"/>
                <a:cs typeface="Calibri"/>
              </a:rPr>
              <a:t>h_core</a:t>
            </a:r>
            <a:r>
              <a:rPr lang="es-ES" sz="1400" spc="-10">
                <a:latin typeface="Calibri"/>
                <a:cs typeface="Calibri"/>
              </a:rPr>
              <a:t> </a:t>
            </a:r>
            <a:endParaRPr sz="14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a:t>shallow</a:t>
            </a:r>
            <a:r>
              <a:rPr lang="en-US"/>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a:t>deep</a:t>
            </a:r>
            <a:r>
              <a:rPr lang="en-US"/>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1.0 WAVEGUIDES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3" y="1295400"/>
            <a:ext cx="8078788"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materials, output, results.</a:t>
            </a:r>
          </a:p>
          <a:p>
            <a:pPr marL="342900" indent="-342900" algn="just">
              <a:buFont typeface="Arial" panose="020B0604020202020204" pitchFamily="34" charset="0"/>
              <a:buChar char="•"/>
            </a:pPr>
            <a:r>
              <a:rPr lang="en-US" sz="2000"/>
              <a:t>Explain how to run a simulation for a particular cross-section. </a:t>
            </a:r>
          </a:p>
          <a:p>
            <a:pPr marL="342900" indent="-342900" algn="just">
              <a:buFont typeface="Arial" panose="020B0604020202020204" pitchFamily="34" charset="0"/>
              <a:buChar char="•"/>
            </a:pPr>
            <a:r>
              <a:rPr lang="en-US" sz="2000"/>
              <a:t>Showcase how to change between shallow and deep waveguide.</a:t>
            </a:r>
          </a:p>
          <a:p>
            <a:pPr marL="342900" indent="-342900" algn="just">
              <a:buFont typeface="Arial" panose="020B0604020202020204" pitchFamily="34" charset="0"/>
              <a:buChar char="•"/>
            </a:pPr>
            <a:r>
              <a:rPr lang="en-US" sz="2000"/>
              <a:t>Describe how to change the wavelength and width for the waveguide analysis.</a:t>
            </a:r>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a:t>
            </a:r>
            <a:r>
              <a:rPr lang="en-US" sz="2000" err="1"/>
              <a:t>neff</a:t>
            </a:r>
            <a:r>
              <a:rPr lang="en-US" sz="2000"/>
              <a:t> …)</a:t>
            </a:r>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La imagen ilustra la sección transversal de una guía de onda de tipo '</a:t>
            </a:r>
            <a:r>
              <a:rPr lang="es-ES" sz="1200" err="1">
                <a:latin typeface="Arial" panose="020B0604020202020204" pitchFamily="34" charset="0"/>
                <a:cs typeface="Arial" panose="020B0604020202020204" pitchFamily="34" charset="0"/>
              </a:rPr>
              <a:t>deep</a:t>
            </a:r>
            <a:r>
              <a:rPr lang="es-ES" sz="1200">
                <a:latin typeface="Arial" panose="020B0604020202020204" pitchFamily="34" charset="0"/>
                <a:cs typeface="Arial" panose="020B0604020202020204" pitchFamily="34" charset="0"/>
              </a:rPr>
              <a:t>'. Se observa claramente el núcleo (</a:t>
            </a:r>
            <a:r>
              <a:rPr lang="es-ES" sz="1200" err="1">
                <a:latin typeface="Arial" panose="020B0604020202020204" pitchFamily="34" charset="0"/>
                <a:cs typeface="Arial" panose="020B0604020202020204" pitchFamily="34" charset="0"/>
              </a:rPr>
              <a:t>core</a:t>
            </a:r>
            <a:r>
              <a:rPr lang="es-ES" sz="1200">
                <a:latin typeface="Arial" panose="020B0604020202020204" pitchFamily="34" charset="0"/>
                <a:cs typeface="Arial" panose="020B0604020202020204" pitchFamily="34" charset="0"/>
              </a:rPr>
              <a:t>) con un ancho de 1.2 µm (eje X) y un espesor de 300 nm (eje Y).</a:t>
            </a:r>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pic>
        <p:nvPicPr>
          <p:cNvPr id="6" name="Imagen 5" descr="Gráfico&#10;&#10;El contenido generado por IA puede ser incorrecto.">
            <a:extLst>
              <a:ext uri="{FF2B5EF4-FFF2-40B4-BE49-F238E27FC236}">
                <a16:creationId xmlns:a16="http://schemas.microsoft.com/office/drawing/2014/main" id="{57BE3B12-9C75-3C80-B1AA-98FBD1EAEC82}"/>
              </a:ext>
            </a:extLst>
          </p:cNvPr>
          <p:cNvPicPr>
            <a:picLocks noChangeAspect="1"/>
          </p:cNvPicPr>
          <p:nvPr/>
        </p:nvPicPr>
        <p:blipFill>
          <a:blip r:embed="rId5"/>
          <a:stretch>
            <a:fillRect/>
          </a:stretch>
        </p:blipFill>
        <p:spPr>
          <a:xfrm>
            <a:off x="8695561" y="1986996"/>
            <a:ext cx="3496439" cy="2556061"/>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C1802-3A6E-9A11-3B58-5A372B6C262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83CDAE7-0C45-0F4A-FC38-466D6203C32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1E63AA37-8149-EB93-A76F-FB114648B08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665943B-1B01-59ED-BED3-AFDA49B725A4}"/>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EA26561-7885-C85D-BFB1-9994273A4BD6}"/>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689D2803-9B41-B3FC-9641-BF3909830796}"/>
              </a:ext>
            </a:extLst>
          </p:cNvPr>
          <p:cNvSpPr txBox="1"/>
          <p:nvPr/>
        </p:nvSpPr>
        <p:spPr>
          <a:xfrm>
            <a:off x="583019" y="4693757"/>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El núcleo está compuesto de nitruro de silicio, con un índice de refracción aproximado de 1.999 en el rango de longitudes de onda analizado. El revestimiento (</a:t>
            </a:r>
            <a:r>
              <a:rPr lang="es-ES" sz="1200" err="1">
                <a:latin typeface="Arial" panose="020B0604020202020204" pitchFamily="34" charset="0"/>
                <a:cs typeface="Arial" panose="020B0604020202020204" pitchFamily="34" charset="0"/>
              </a:rPr>
              <a:t>cladding</a:t>
            </a:r>
            <a:r>
              <a:rPr lang="es-ES" sz="1200">
                <a:latin typeface="Arial" panose="020B0604020202020204" pitchFamily="34" charset="0"/>
                <a:cs typeface="Arial" panose="020B0604020202020204" pitchFamily="34" charset="0"/>
              </a:rPr>
              <a:t>) es de SiO</a:t>
            </a:r>
            <a:r>
              <a:rPr lang="es-ES" sz="1000">
                <a:latin typeface="Arial" panose="020B0604020202020204" pitchFamily="34" charset="0"/>
                <a:cs typeface="Arial" panose="020B0604020202020204" pitchFamily="34" charset="0"/>
              </a:rPr>
              <a:t>2</a:t>
            </a:r>
            <a:r>
              <a:rPr lang="es-ES" sz="1200">
                <a:latin typeface="Arial" panose="020B0604020202020204" pitchFamily="34" charset="0"/>
                <a:cs typeface="Arial" panose="020B0604020202020204" pitchFamily="34" charset="0"/>
              </a:rPr>
              <a:t>​ , con un índice cercano a 1.457. Para garantizar el confinamiento de la luz en el núcleo mediante reflexión interna total (Ley de Snell), el índice del núcleo es superior al del revestimiento. Los resultados del código muestran los índices efectivos (</a:t>
            </a:r>
            <a:r>
              <a:rPr lang="es-ES" sz="1200" err="1">
                <a:latin typeface="Arial" panose="020B0604020202020204" pitchFamily="34" charset="0"/>
                <a:cs typeface="Arial" panose="020B0604020202020204" pitchFamily="34" charset="0"/>
              </a:rPr>
              <a:t>n</a:t>
            </a:r>
            <a:r>
              <a:rPr lang="es-ES" sz="1000" err="1">
                <a:latin typeface="Arial" panose="020B0604020202020204" pitchFamily="34" charset="0"/>
                <a:cs typeface="Arial" panose="020B0604020202020204" pitchFamily="34" charset="0"/>
              </a:rPr>
              <a:t>eff</a:t>
            </a:r>
            <a:r>
              <a:rPr lang="es-ES" sz="1200">
                <a:latin typeface="Arial" panose="020B0604020202020204" pitchFamily="34" charset="0"/>
                <a:cs typeface="Arial" panose="020B0604020202020204" pitchFamily="34" charset="0"/>
              </a:rPr>
              <a:t>) de los diferentes modos; estos valores son siempre inferiores al índice del núcleo debido a la fracción de campo que viaja por el </a:t>
            </a:r>
            <a:r>
              <a:rPr lang="es-ES" sz="1200" err="1">
                <a:latin typeface="Arial" panose="020B0604020202020204" pitchFamily="34" charset="0"/>
                <a:cs typeface="Arial" panose="020B0604020202020204" pitchFamily="34" charset="0"/>
              </a:rPr>
              <a:t>cladding</a:t>
            </a:r>
            <a:r>
              <a:rPr lang="es-ES" sz="1200">
                <a:latin typeface="Arial" panose="020B0604020202020204" pitchFamily="34" charset="0"/>
                <a:cs typeface="Arial" panose="020B0604020202020204" pitchFamily="34" charset="0"/>
              </a:rPr>
              <a:t>. Además, se observa que el índice efectivo disminuye a medida que aumenta el orden del modo.</a:t>
            </a:r>
            <a:endParaRPr lang="en-US" sz="120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9F4F216-597A-8FF2-FB13-BB7E7B6A95F7}"/>
              </a:ext>
            </a:extLst>
          </p:cNvPr>
          <p:cNvPicPr>
            <a:picLocks noChangeAspect="1"/>
          </p:cNvPicPr>
          <p:nvPr/>
        </p:nvPicPr>
        <p:blipFill>
          <a:blip r:embed="rId5"/>
          <a:stretch>
            <a:fillRect/>
          </a:stretch>
        </p:blipFill>
        <p:spPr>
          <a:xfrm>
            <a:off x="609441" y="896677"/>
            <a:ext cx="3250279" cy="2532323"/>
          </a:xfrm>
          <a:prstGeom prst="rect">
            <a:avLst/>
          </a:prstGeom>
        </p:spPr>
      </p:pic>
      <p:pic>
        <p:nvPicPr>
          <p:cNvPr id="9" name="Imagen 8">
            <a:extLst>
              <a:ext uri="{FF2B5EF4-FFF2-40B4-BE49-F238E27FC236}">
                <a16:creationId xmlns:a16="http://schemas.microsoft.com/office/drawing/2014/main" id="{A75D1CE3-D384-3286-9A76-7A1CAEFA16CC}"/>
              </a:ext>
            </a:extLst>
          </p:cNvPr>
          <p:cNvPicPr>
            <a:picLocks noChangeAspect="1"/>
          </p:cNvPicPr>
          <p:nvPr/>
        </p:nvPicPr>
        <p:blipFill>
          <a:blip r:embed="rId6"/>
          <a:stretch>
            <a:fillRect/>
          </a:stretch>
        </p:blipFill>
        <p:spPr>
          <a:xfrm>
            <a:off x="4470860" y="966441"/>
            <a:ext cx="3250279" cy="2489692"/>
          </a:xfrm>
          <a:prstGeom prst="rect">
            <a:avLst/>
          </a:prstGeom>
        </p:spPr>
      </p:pic>
      <p:pic>
        <p:nvPicPr>
          <p:cNvPr id="11" name="Imagen 10">
            <a:extLst>
              <a:ext uri="{FF2B5EF4-FFF2-40B4-BE49-F238E27FC236}">
                <a16:creationId xmlns:a16="http://schemas.microsoft.com/office/drawing/2014/main" id="{1B918564-9F20-C434-4F86-2B8051843577}"/>
              </a:ext>
            </a:extLst>
          </p:cNvPr>
          <p:cNvPicPr>
            <a:picLocks noChangeAspect="1"/>
          </p:cNvPicPr>
          <p:nvPr/>
        </p:nvPicPr>
        <p:blipFill>
          <a:blip r:embed="rId7"/>
          <a:stretch>
            <a:fillRect/>
          </a:stretch>
        </p:blipFill>
        <p:spPr>
          <a:xfrm>
            <a:off x="8332280" y="934535"/>
            <a:ext cx="3250279" cy="2456606"/>
          </a:xfrm>
          <a:prstGeom prst="rect">
            <a:avLst/>
          </a:prstGeom>
        </p:spPr>
      </p:pic>
      <p:pic>
        <p:nvPicPr>
          <p:cNvPr id="13" name="Imagen 12">
            <a:extLst>
              <a:ext uri="{FF2B5EF4-FFF2-40B4-BE49-F238E27FC236}">
                <a16:creationId xmlns:a16="http://schemas.microsoft.com/office/drawing/2014/main" id="{346F0B34-4E16-729B-814F-281A14CED6B1}"/>
              </a:ext>
            </a:extLst>
          </p:cNvPr>
          <p:cNvPicPr>
            <a:picLocks noChangeAspect="1"/>
          </p:cNvPicPr>
          <p:nvPr/>
        </p:nvPicPr>
        <p:blipFill>
          <a:blip r:embed="rId8"/>
          <a:stretch>
            <a:fillRect/>
          </a:stretch>
        </p:blipFill>
        <p:spPr>
          <a:xfrm>
            <a:off x="4576386" y="3469957"/>
            <a:ext cx="3039225" cy="1144985"/>
          </a:xfrm>
          <a:prstGeom prst="rect">
            <a:avLst/>
          </a:prstGeom>
        </p:spPr>
      </p:pic>
    </p:spTree>
    <p:extLst>
      <p:ext uri="{BB962C8B-B14F-4D97-AF65-F5344CB8AC3E}">
        <p14:creationId xmlns:p14="http://schemas.microsoft.com/office/powerpoint/2010/main" val="728322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61659-CBD7-303D-E21B-69983857503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9AA192D-DE30-F187-F652-3D6FEA7E6B7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Effective index of a waveguide</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1DB63738-8322-3CDF-28CF-028602B4A4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9496DB2-8AA5-EC1A-B7CD-2BAD95430DC2}"/>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B9C90680-9211-4019-D896-6798A5EC0CDD}"/>
              </a:ext>
            </a:extLst>
          </p:cNvPr>
          <p:cNvSpPr>
            <a:spLocks noGrp="1"/>
          </p:cNvSpPr>
          <p:nvPr>
            <p:ph type="ftr" sz="quarter" idx="5"/>
          </p:nvPr>
        </p:nvSpPr>
        <p:spPr/>
        <p:txBody>
          <a:bodyPr/>
          <a:lstStyle/>
          <a:p>
            <a:pPr marL="12700">
              <a:spcBef>
                <a:spcPts val="15"/>
              </a:spcBef>
            </a:pPr>
            <a:r>
              <a:rPr lang="es-ES" spc="-5"/>
              <a:t>LAB 1.0 WAVEGUIDES</a:t>
            </a:r>
          </a:p>
        </p:txBody>
      </p:sp>
      <p:pic>
        <p:nvPicPr>
          <p:cNvPr id="20" name="Imagen 19">
            <a:extLst>
              <a:ext uri="{FF2B5EF4-FFF2-40B4-BE49-F238E27FC236}">
                <a16:creationId xmlns:a16="http://schemas.microsoft.com/office/drawing/2014/main" id="{2BA08CE7-3CA3-979A-E9C5-ABF069EEA651}"/>
              </a:ext>
            </a:extLst>
          </p:cNvPr>
          <p:cNvPicPr>
            <a:picLocks noChangeAspect="1"/>
          </p:cNvPicPr>
          <p:nvPr/>
        </p:nvPicPr>
        <p:blipFill>
          <a:blip r:embed="rId5"/>
          <a:stretch>
            <a:fillRect/>
          </a:stretch>
        </p:blipFill>
        <p:spPr>
          <a:xfrm>
            <a:off x="230647" y="1200276"/>
            <a:ext cx="3588160" cy="2463904"/>
          </a:xfrm>
          <a:prstGeom prst="rect">
            <a:avLst/>
          </a:prstGeom>
        </p:spPr>
      </p:pic>
      <p:pic>
        <p:nvPicPr>
          <p:cNvPr id="22" name="Imagen 21">
            <a:extLst>
              <a:ext uri="{FF2B5EF4-FFF2-40B4-BE49-F238E27FC236}">
                <a16:creationId xmlns:a16="http://schemas.microsoft.com/office/drawing/2014/main" id="{FEE05200-6CFA-1CB6-8DEF-89A4CD773F4C}"/>
              </a:ext>
            </a:extLst>
          </p:cNvPr>
          <p:cNvPicPr>
            <a:picLocks noChangeAspect="1"/>
          </p:cNvPicPr>
          <p:nvPr/>
        </p:nvPicPr>
        <p:blipFill>
          <a:blip r:embed="rId6"/>
          <a:stretch>
            <a:fillRect/>
          </a:stretch>
        </p:blipFill>
        <p:spPr>
          <a:xfrm>
            <a:off x="130585" y="3800409"/>
            <a:ext cx="3686484" cy="2549936"/>
          </a:xfrm>
          <a:prstGeom prst="rect">
            <a:avLst/>
          </a:prstGeom>
        </p:spPr>
      </p:pic>
      <p:pic>
        <p:nvPicPr>
          <p:cNvPr id="24" name="Imagen 23">
            <a:extLst>
              <a:ext uri="{FF2B5EF4-FFF2-40B4-BE49-F238E27FC236}">
                <a16:creationId xmlns:a16="http://schemas.microsoft.com/office/drawing/2014/main" id="{B7C60BF3-8DAF-6A3A-0FAB-BB10E8015D6C}"/>
              </a:ext>
            </a:extLst>
          </p:cNvPr>
          <p:cNvPicPr>
            <a:picLocks noChangeAspect="1"/>
          </p:cNvPicPr>
          <p:nvPr/>
        </p:nvPicPr>
        <p:blipFill>
          <a:blip r:embed="rId7"/>
          <a:stretch>
            <a:fillRect/>
          </a:stretch>
        </p:blipFill>
        <p:spPr>
          <a:xfrm>
            <a:off x="3813519" y="1189959"/>
            <a:ext cx="3751621" cy="2454071"/>
          </a:xfrm>
          <a:prstGeom prst="rect">
            <a:avLst/>
          </a:prstGeom>
        </p:spPr>
      </p:pic>
      <p:pic>
        <p:nvPicPr>
          <p:cNvPr id="26" name="Imagen 25">
            <a:extLst>
              <a:ext uri="{FF2B5EF4-FFF2-40B4-BE49-F238E27FC236}">
                <a16:creationId xmlns:a16="http://schemas.microsoft.com/office/drawing/2014/main" id="{C55BD93B-30A8-1626-731B-A596890CC7F2}"/>
              </a:ext>
            </a:extLst>
          </p:cNvPr>
          <p:cNvPicPr>
            <a:picLocks noChangeAspect="1"/>
          </p:cNvPicPr>
          <p:nvPr/>
        </p:nvPicPr>
        <p:blipFill>
          <a:blip r:embed="rId8"/>
          <a:stretch>
            <a:fillRect/>
          </a:stretch>
        </p:blipFill>
        <p:spPr>
          <a:xfrm>
            <a:off x="3813957" y="3839217"/>
            <a:ext cx="3860869" cy="2545556"/>
          </a:xfrm>
          <a:prstGeom prst="rect">
            <a:avLst/>
          </a:prstGeom>
        </p:spPr>
      </p:pic>
      <p:pic>
        <p:nvPicPr>
          <p:cNvPr id="15" name="Imagen 14">
            <a:extLst>
              <a:ext uri="{FF2B5EF4-FFF2-40B4-BE49-F238E27FC236}">
                <a16:creationId xmlns:a16="http://schemas.microsoft.com/office/drawing/2014/main" id="{917F808E-29B6-80A2-BF23-954DC46C352F}"/>
              </a:ext>
            </a:extLst>
          </p:cNvPr>
          <p:cNvPicPr>
            <a:picLocks noChangeAspect="1"/>
          </p:cNvPicPr>
          <p:nvPr/>
        </p:nvPicPr>
        <p:blipFill>
          <a:blip r:embed="rId9"/>
          <a:stretch>
            <a:fillRect/>
          </a:stretch>
        </p:blipFill>
        <p:spPr>
          <a:xfrm>
            <a:off x="8410252" y="4493450"/>
            <a:ext cx="2947946" cy="715930"/>
          </a:xfrm>
          <a:prstGeom prst="rect">
            <a:avLst/>
          </a:prstGeom>
        </p:spPr>
      </p:pic>
      <p:pic>
        <p:nvPicPr>
          <p:cNvPr id="18" name="Imagen 17">
            <a:extLst>
              <a:ext uri="{FF2B5EF4-FFF2-40B4-BE49-F238E27FC236}">
                <a16:creationId xmlns:a16="http://schemas.microsoft.com/office/drawing/2014/main" id="{27B06145-5C1A-AA9E-B666-999702EB0664}"/>
              </a:ext>
            </a:extLst>
          </p:cNvPr>
          <p:cNvPicPr>
            <a:picLocks noChangeAspect="1"/>
          </p:cNvPicPr>
          <p:nvPr/>
        </p:nvPicPr>
        <p:blipFill>
          <a:blip r:embed="rId10"/>
          <a:stretch>
            <a:fillRect/>
          </a:stretch>
        </p:blipFill>
        <p:spPr>
          <a:xfrm>
            <a:off x="8410252" y="5219213"/>
            <a:ext cx="2947946" cy="666860"/>
          </a:xfrm>
          <a:prstGeom prst="rect">
            <a:avLst/>
          </a:prstGeom>
        </p:spPr>
      </p:pic>
      <p:sp>
        <p:nvSpPr>
          <p:cNvPr id="4" name="CuadroTexto 3">
            <a:extLst>
              <a:ext uri="{FF2B5EF4-FFF2-40B4-BE49-F238E27FC236}">
                <a16:creationId xmlns:a16="http://schemas.microsoft.com/office/drawing/2014/main" id="{CABAC286-778C-E63E-73FC-07019C8887D6}"/>
              </a:ext>
            </a:extLst>
          </p:cNvPr>
          <p:cNvSpPr txBox="1"/>
          <p:nvPr/>
        </p:nvSpPr>
        <p:spPr>
          <a:xfrm>
            <a:off x="7674826" y="1318805"/>
            <a:ext cx="4005383" cy="2308324"/>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Las capturas de código muestran la fracción de potencia en las polarizaciones TE (superior) y TM (inferior) para cada modo. Se identifica que los modos 0 y 2 son de tipo TE, al presentar una fracción de potencia casi unitaria en dicha polarización. Por el contrario, los modos 1 y 3 son predominantemente TM. Las gráficas de campo ilustran la distribución de campo de estos cuatro modos: para los modos TE (0 y 2) se representa la componente principal E</a:t>
            </a:r>
            <a:r>
              <a:rPr lang="es-ES" sz="1050">
                <a:latin typeface="Arial" panose="020B0604020202020204" pitchFamily="34" charset="0"/>
                <a:cs typeface="Arial" panose="020B0604020202020204" pitchFamily="34" charset="0"/>
              </a:rPr>
              <a:t>x</a:t>
            </a:r>
            <a:r>
              <a:rPr lang="es-ES" sz="1200">
                <a:latin typeface="Arial" panose="020B0604020202020204" pitchFamily="34" charset="0"/>
                <a:cs typeface="Arial" panose="020B0604020202020204" pitchFamily="34" charset="0"/>
              </a:rPr>
              <a:t>, mientras que para los modos TM (1 y 3) se muestra la componente </a:t>
            </a:r>
            <a:r>
              <a:rPr lang="es-ES" sz="1200" err="1">
                <a:latin typeface="Arial" panose="020B0604020202020204" pitchFamily="34" charset="0"/>
                <a:cs typeface="Arial" panose="020B0604020202020204" pitchFamily="34" charset="0"/>
              </a:rPr>
              <a:t>E</a:t>
            </a:r>
            <a:r>
              <a:rPr lang="es-ES" sz="1050" err="1">
                <a:latin typeface="Arial" panose="020B0604020202020204" pitchFamily="34" charset="0"/>
                <a:cs typeface="Arial" panose="020B0604020202020204" pitchFamily="34" charset="0"/>
              </a:rPr>
              <a:t>y</a:t>
            </a:r>
            <a:r>
              <a:rPr lang="es-ES" sz="1200">
                <a:latin typeface="Arial" panose="020B0604020202020204" pitchFamily="34" charset="0"/>
                <a:cs typeface="Arial" panose="020B0604020202020204" pitchFamily="34" charset="0"/>
              </a:rPr>
              <a:t>, validando así la naturaleza de cada modo según su orientación de campo dominante.</a:t>
            </a:r>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301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Wavelength behavior</a:t>
            </a:r>
            <a:br>
              <a:rPr lang="es-ES" sz="2500" spc="-5">
                <a:latin typeface="+mj-lt"/>
                <a:cs typeface="Lucida Sans"/>
              </a:rPr>
            </a:br>
            <a:r>
              <a:rPr lang="en-US" b="0"/>
              <a:t>Wavelength 1.5-1.6 µm (step 0.01 µm) – width 1.2 µm</a:t>
            </a:r>
            <a:endParaRPr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a:latin typeface="Arial"/>
                <a:cs typeface="Arial"/>
              </a:rPr>
              <a:t>Se observa que el índice efectivo de todos los modos disminuye conforme aumenta la longitud de onda. Este fenómeno indica un menor confinamiento de la luz en el núcleo a longitudes de onda más largas, debido a que el campo electromagnético se expande hacia el </a:t>
            </a:r>
            <a:r>
              <a:rPr lang="es-ES" sz="1200" err="1">
                <a:latin typeface="Arial"/>
                <a:cs typeface="Arial"/>
              </a:rPr>
              <a:t>cladding</a:t>
            </a:r>
            <a:r>
              <a:rPr lang="es-ES" sz="1200">
                <a:latin typeface="Arial"/>
                <a:cs typeface="Arial"/>
              </a:rPr>
              <a:t>.</a:t>
            </a:r>
            <a:endParaRPr lang="en-US" sz="1200">
              <a:latin typeface="Arial" panose="020B0604020202020204" pitchFamily="34" charset="0"/>
              <a:cs typeface="Arial" panose="020B0604020202020204" pitchFamily="34" charset="0"/>
            </a:endParaRPr>
          </a:p>
          <a:p>
            <a:pPr algn="just"/>
            <a:endParaRPr lang="en-US" sz="1200">
              <a:latin typeface="Arial"/>
              <a:cs typeface="Arial"/>
            </a:endParaRPr>
          </a:p>
          <a:p>
            <a:pPr algn="just"/>
            <a:r>
              <a:rPr lang="es-ES" sz="1200">
                <a:latin typeface="Arial"/>
                <a:cs typeface="Arial"/>
              </a:rPr>
              <a:t>En la guía </a:t>
            </a:r>
            <a:r>
              <a:rPr lang="es-ES" sz="1200" err="1">
                <a:latin typeface="Arial"/>
                <a:cs typeface="Arial"/>
              </a:rPr>
              <a:t>deep</a:t>
            </a:r>
            <a:r>
              <a:rPr lang="es-ES" sz="1200">
                <a:latin typeface="Arial"/>
                <a:cs typeface="Arial"/>
              </a:rPr>
              <a:t>, los modos 2 y 3 no son guiados, ya que su índice efectivo cae por debajo del índice de refracción del SiO</a:t>
            </a:r>
            <a:r>
              <a:rPr lang="es-ES" sz="1050">
                <a:latin typeface="Arial"/>
                <a:cs typeface="Arial"/>
              </a:rPr>
              <a:t>2</a:t>
            </a:r>
            <a:r>
              <a:rPr lang="es-ES" sz="1200">
                <a:latin typeface="Arial"/>
                <a:cs typeface="Arial"/>
              </a:rPr>
              <a:t>​  (</a:t>
            </a:r>
            <a:r>
              <a:rPr lang="es-ES" sz="1200" err="1">
                <a:latin typeface="Arial"/>
                <a:cs typeface="Arial"/>
              </a:rPr>
              <a:t>cladding</a:t>
            </a:r>
            <a:r>
              <a:rPr lang="es-ES" sz="1200">
                <a:latin typeface="Arial"/>
                <a:cs typeface="Arial"/>
              </a:rPr>
              <a:t>), perdiendo el confinamiento por reflexión interna total. Por el contrario, la guía </a:t>
            </a:r>
            <a:r>
              <a:rPr lang="es-ES" sz="1200" err="1">
                <a:latin typeface="Arial"/>
                <a:cs typeface="Arial"/>
              </a:rPr>
              <a:t>shallow</a:t>
            </a:r>
            <a:r>
              <a:rPr lang="es-ES" sz="1200">
                <a:latin typeface="Arial"/>
                <a:cs typeface="Arial"/>
              </a:rPr>
              <a:t> permite la propagación de todos los modos analizados. Esto se debe a que la geometría </a:t>
            </a:r>
            <a:r>
              <a:rPr lang="es-ES" sz="1200" err="1">
                <a:latin typeface="Arial"/>
                <a:cs typeface="Arial"/>
              </a:rPr>
              <a:t>shallow</a:t>
            </a:r>
            <a:r>
              <a:rPr lang="es-ES" sz="1200">
                <a:latin typeface="Arial"/>
                <a:cs typeface="Arial"/>
              </a:rPr>
              <a:t> ofrece una mayor área de núcleo, lo que incrementa la capacidad de la guía para soportar y mantener confinados un mayor número de modos en comparación con la guía </a:t>
            </a:r>
            <a:r>
              <a:rPr lang="es-ES" sz="1200" err="1">
                <a:latin typeface="Arial"/>
                <a:cs typeface="Arial"/>
              </a:rPr>
              <a:t>deep</a:t>
            </a:r>
            <a:r>
              <a:rPr lang="es-ES" sz="1200">
                <a:latin typeface="Arial"/>
                <a:cs typeface="Arial"/>
              </a:rPr>
              <a:t>.</a:t>
            </a:r>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C4E7A47-20E2-3C27-D841-5A665642F6E2}"/>
              </a:ext>
            </a:extLst>
          </p:cNvPr>
          <p:cNvSpPr txBox="1"/>
          <p:nvPr/>
        </p:nvSpPr>
        <p:spPr>
          <a:xfrm>
            <a:off x="2285455" y="2671278"/>
            <a:ext cx="1980542" cy="923330"/>
          </a:xfrm>
          <a:prstGeom prst="rect">
            <a:avLst/>
          </a:prstGeom>
          <a:noFill/>
        </p:spPr>
        <p:txBody>
          <a:bodyPr wrap="none" rtlCol="0">
            <a:spAutoFit/>
          </a:bodyPr>
          <a:lstStyle/>
          <a:p>
            <a:pPr algn="ctr"/>
            <a:r>
              <a:rPr lang="en-US" b="1"/>
              <a:t>shallow</a:t>
            </a:r>
            <a:r>
              <a:rPr lang="en-US"/>
              <a:t> waveguide</a:t>
            </a:r>
          </a:p>
          <a:p>
            <a:pPr algn="ctr"/>
            <a:endParaRPr lang="en-US"/>
          </a:p>
          <a:p>
            <a:pPr algn="ctr"/>
            <a:r>
              <a:rPr lang="en-US"/>
              <a:t>Paste plot here</a:t>
            </a:r>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8281672" y="2671278"/>
            <a:ext cx="1722908" cy="923330"/>
          </a:xfrm>
          <a:prstGeom prst="rect">
            <a:avLst/>
          </a:prstGeom>
          <a:noFill/>
        </p:spPr>
        <p:txBody>
          <a:bodyPr wrap="none" rtlCol="0">
            <a:spAutoFit/>
          </a:bodyPr>
          <a:lstStyle/>
          <a:p>
            <a:pPr algn="ctr"/>
            <a:r>
              <a:rPr lang="en-US" b="1"/>
              <a:t>deep</a:t>
            </a:r>
            <a:r>
              <a:rPr lang="en-US"/>
              <a:t> waveguide</a:t>
            </a:r>
          </a:p>
          <a:p>
            <a:pPr algn="ctr"/>
            <a:endParaRPr lang="en-US"/>
          </a:p>
          <a:p>
            <a:pPr algn="ctr"/>
            <a:r>
              <a:rPr lang="en-US"/>
              <a:t>Paste plot here</a:t>
            </a:r>
          </a:p>
        </p:txBody>
      </p:sp>
      <p:pic>
        <p:nvPicPr>
          <p:cNvPr id="10" name="Imagen 9" descr="Gráfico, Gráfico de líneas&#10;&#10;El contenido generado por IA puede ser incorrecto.">
            <a:extLst>
              <a:ext uri="{FF2B5EF4-FFF2-40B4-BE49-F238E27FC236}">
                <a16:creationId xmlns:a16="http://schemas.microsoft.com/office/drawing/2014/main" id="{5E1B0A79-0B7C-2578-1912-E77B18D7E737}"/>
              </a:ext>
            </a:extLst>
          </p:cNvPr>
          <p:cNvPicPr>
            <a:picLocks noChangeAspect="1"/>
          </p:cNvPicPr>
          <p:nvPr/>
        </p:nvPicPr>
        <p:blipFill>
          <a:blip r:embed="rId5"/>
          <a:stretch>
            <a:fillRect/>
          </a:stretch>
        </p:blipFill>
        <p:spPr>
          <a:xfrm>
            <a:off x="6560372" y="1556485"/>
            <a:ext cx="5119838" cy="2986572"/>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9FE30522-1B74-2F34-DCF9-D14C4DE0ADC7}"/>
              </a:ext>
            </a:extLst>
          </p:cNvPr>
          <p:cNvPicPr>
            <a:picLocks noChangeAspect="1"/>
          </p:cNvPicPr>
          <p:nvPr/>
        </p:nvPicPr>
        <p:blipFill>
          <a:blip r:embed="rId6"/>
          <a:stretch>
            <a:fillRect/>
          </a:stretch>
        </p:blipFill>
        <p:spPr>
          <a:xfrm>
            <a:off x="642989" y="1464167"/>
            <a:ext cx="5224411" cy="3047573"/>
          </a:xfrm>
          <a:prstGeom prst="rect">
            <a:avLst/>
          </a:prstGeom>
        </p:spPr>
      </p:pic>
      <p:sp>
        <p:nvSpPr>
          <p:cNvPr id="9" name="CuadroTexto 8">
            <a:extLst>
              <a:ext uri="{FF2B5EF4-FFF2-40B4-BE49-F238E27FC236}">
                <a16:creationId xmlns:a16="http://schemas.microsoft.com/office/drawing/2014/main" id="{8BD4C233-B5D9-B6AA-93A8-CF2F130CFF9C}"/>
              </a:ext>
            </a:extLst>
          </p:cNvPr>
          <p:cNvSpPr txBox="1"/>
          <p:nvPr/>
        </p:nvSpPr>
        <p:spPr>
          <a:xfrm>
            <a:off x="642989" y="4402885"/>
            <a:ext cx="2269787" cy="369332"/>
          </a:xfrm>
          <a:prstGeom prst="rect">
            <a:avLst/>
          </a:prstGeom>
          <a:noFill/>
        </p:spPr>
        <p:txBody>
          <a:bodyPr wrap="square">
            <a:spAutoFit/>
          </a:bodyPr>
          <a:lstStyle/>
          <a:p>
            <a:r>
              <a:rPr lang="en-US"/>
              <a:t>slab = 150nm</a:t>
            </a:r>
            <a:endParaRPr lang="es-ES"/>
          </a:p>
        </p:txBody>
      </p:sp>
    </p:spTree>
    <p:extLst>
      <p:ext uri="{BB962C8B-B14F-4D97-AF65-F5344CB8AC3E}">
        <p14:creationId xmlns:p14="http://schemas.microsoft.com/office/powerpoint/2010/main" val="3712356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Width dependence</a:t>
            </a:r>
            <a:br>
              <a:rPr lang="es-ES" sz="2500" spc="-5">
                <a:latin typeface="+mj-lt"/>
                <a:cs typeface="Lucida Sans"/>
              </a:rPr>
            </a:br>
            <a:r>
              <a:rPr lang="en-US" b="0"/>
              <a:t>Width 0.6 - 1.6 µm (step 0.1 µm) – Wavelength 1.55 µm </a:t>
            </a:r>
            <a:endParaRPr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La gráfica demuestra que el índice efectivo aumenta proporcionalmente con el ancho de la guía. Este incremento conlleva un mayor confinamiento de los modos en el núcleo, ya que el valor de </a:t>
            </a:r>
            <a:r>
              <a:rPr lang="es-ES" sz="1200" err="1">
                <a:latin typeface="Arial" panose="020B0604020202020204" pitchFamily="34" charset="0"/>
                <a:cs typeface="Arial" panose="020B0604020202020204" pitchFamily="34" charset="0"/>
              </a:rPr>
              <a:t>n</a:t>
            </a:r>
            <a:r>
              <a:rPr lang="es-ES" sz="1050" err="1">
                <a:latin typeface="Arial" panose="020B0604020202020204" pitchFamily="34" charset="0"/>
                <a:cs typeface="Arial" panose="020B0604020202020204" pitchFamily="34" charset="0"/>
              </a:rPr>
              <a:t>eff</a:t>
            </a:r>
            <a:r>
              <a:rPr lang="es-ES" sz="1200">
                <a:latin typeface="Arial" panose="020B0604020202020204" pitchFamily="34" charset="0"/>
                <a:cs typeface="Arial" panose="020B0604020202020204" pitchFamily="34" charset="0"/>
              </a:rPr>
              <a:t>​  se aproxima al índice de refracción del material del </a:t>
            </a:r>
            <a:r>
              <a:rPr lang="es-ES" sz="1200" err="1">
                <a:latin typeface="Arial" panose="020B0604020202020204" pitchFamily="34" charset="0"/>
                <a:cs typeface="Arial" panose="020B0604020202020204" pitchFamily="34" charset="0"/>
              </a:rPr>
              <a:t>core</a:t>
            </a:r>
            <a:r>
              <a:rPr lang="es-ES" sz="1200">
                <a:latin typeface="Arial" panose="020B0604020202020204" pitchFamily="34" charset="0"/>
                <a:cs typeface="Arial" panose="020B0604020202020204" pitchFamily="34" charset="0"/>
              </a:rPr>
              <a:t> (≈1.999).Los modos 0 (TE0) y 1 (TM0) se mantienen guiados en todo el rango de anchos analizado. Sin embargo, el modo 3 (TM1) no llega a propagarse en este barrido, al permanecer su índice efectivo por debajo del índice del revestimiento (SiO2). Por su parte, el modo 2 (TE1) alcanza su condición de guiado a partir de un ancho de 1.3 µm, punto en el que su índice efectivo supera al del </a:t>
            </a:r>
            <a:r>
              <a:rPr lang="es-ES" sz="1200" err="1">
                <a:latin typeface="Arial" panose="020B0604020202020204" pitchFamily="34" charset="0"/>
                <a:cs typeface="Arial" panose="020B0604020202020204" pitchFamily="34" charset="0"/>
              </a:rPr>
              <a:t>cladding</a:t>
            </a:r>
            <a:r>
              <a:rPr lang="es-ES" sz="1200">
                <a:latin typeface="Arial" panose="020B0604020202020204" pitchFamily="34" charset="0"/>
                <a:cs typeface="Arial" panose="020B0604020202020204" pitchFamily="34" charset="0"/>
              </a:rPr>
              <a:t>. Finalmente, se confirma que el modo 0 es el que presenta un mayor grado de confinamiento, al poseer el índice efectivo más elevado de todos los modos.</a:t>
            </a:r>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plot here</a:t>
            </a:r>
          </a:p>
        </p:txBody>
      </p:sp>
      <p:pic>
        <p:nvPicPr>
          <p:cNvPr id="5" name="Imagen 4" descr="Gráfico, Gráfico de líneas&#10;&#10;El contenido generado por IA puede ser incorrecto.">
            <a:extLst>
              <a:ext uri="{FF2B5EF4-FFF2-40B4-BE49-F238E27FC236}">
                <a16:creationId xmlns:a16="http://schemas.microsoft.com/office/drawing/2014/main" id="{3265C245-E6B2-1F87-CA7A-FD8F6AEF7416}"/>
              </a:ext>
            </a:extLst>
          </p:cNvPr>
          <p:cNvPicPr>
            <a:picLocks noChangeAspect="1"/>
          </p:cNvPicPr>
          <p:nvPr/>
        </p:nvPicPr>
        <p:blipFill>
          <a:blip r:embed="rId5"/>
          <a:stretch>
            <a:fillRect/>
          </a:stretch>
        </p:blipFill>
        <p:spPr>
          <a:xfrm>
            <a:off x="3495238" y="1628993"/>
            <a:ext cx="5201524" cy="3028030"/>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Waveguide compact model</a:t>
            </a:r>
            <a:br>
              <a:rPr lang="en-US" sz="2500" spc="-5">
                <a:latin typeface="+mj-lt"/>
                <a:cs typeface="Lucida Sans"/>
              </a:rPr>
            </a:br>
            <a:r>
              <a:rPr lang="en-US" b="0"/>
              <a:t>- Find the compact models of the following waveguides: </a:t>
            </a:r>
            <a:br>
              <a:rPr lang="en-US" b="0"/>
            </a:br>
            <a:r>
              <a:rPr lang="en-US"/>
              <a:t>Deep</a:t>
            </a:r>
            <a:r>
              <a:rPr lang="en-US" b="0"/>
              <a:t> waveguide, h=300nm, w=1.2um   - </a:t>
            </a:r>
            <a:r>
              <a:rPr lang="en-US"/>
              <a:t>Shallow</a:t>
            </a:r>
            <a:r>
              <a:rPr lang="en-US" b="0"/>
              <a:t> waveguide, core h=300nm, slab h=150 nm, w = 1.2um </a:t>
            </a:r>
            <a:br>
              <a:rPr lang="en-US" b="0"/>
            </a:br>
            <a:endParaRPr lang="en-US" sz="2500" b="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440F587-93A3-E474-C0B0-883BB9DAFD85}"/>
                  </a:ext>
                </a:extLst>
              </p:cNvPr>
              <p:cNvSpPr txBox="1"/>
              <p:nvPr/>
            </p:nvSpPr>
            <p:spPr>
              <a:xfrm>
                <a:off x="609441" y="4860334"/>
                <a:ext cx="11198542" cy="154657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Se ha empleado una aproximación mediante series de Taylor de segundo orden, analizando el comportamiento del índice efectivo en un rango de longitudes de onda de 1500 nm a 1600 nm con un paso de 50 nm. Las curvas resultantes son consistentes con las obtenidas en el </a:t>
                </a:r>
                <a:r>
                  <a:rPr lang="es-ES" sz="1200" err="1">
                    <a:latin typeface="Arial" panose="020B0604020202020204" pitchFamily="34" charset="0"/>
                    <a:cs typeface="Arial" panose="020B0604020202020204" pitchFamily="34" charset="0"/>
                  </a:rPr>
                  <a:t>Learning</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Outcome</a:t>
                </a:r>
                <a:r>
                  <a:rPr lang="es-ES" sz="1200">
                    <a:latin typeface="Arial" panose="020B0604020202020204" pitchFamily="34" charset="0"/>
                    <a:cs typeface="Arial" panose="020B0604020202020204" pitchFamily="34" charset="0"/>
                  </a:rPr>
                  <a:t> #2. A partir de este análisis, se obtienen la dispersión cromática (D) y el índice de grupo (n</a:t>
                </a:r>
                <a:r>
                  <a:rPr lang="es-ES" sz="1050">
                    <a:latin typeface="Arial" panose="020B0604020202020204" pitchFamily="34" charset="0"/>
                    <a:cs typeface="Arial" panose="020B0604020202020204" pitchFamily="34" charset="0"/>
                  </a:rPr>
                  <a:t>g</a:t>
                </a:r>
                <a:r>
                  <a:rPr lang="es-ES" sz="1200">
                    <a:latin typeface="Arial" panose="020B0604020202020204" pitchFamily="34" charset="0"/>
                    <a:cs typeface="Arial" panose="020B0604020202020204" pitchFamily="34" charset="0"/>
                  </a:rPr>
                  <a:t>). Los valores de dispersión calculados, que aparecen en las capturas de código, tienen magnitudes coherentes</a:t>
                </a:r>
                <a:endParaRPr lang="en-US" sz="1200" i="1">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609441" y="4860334"/>
                <a:ext cx="11198542" cy="1546577"/>
              </a:xfrm>
              <a:prstGeom prst="rect">
                <a:avLst/>
              </a:prstGeom>
              <a:blipFill>
                <a:blip r:embed="rId5"/>
                <a:stretch>
                  <a:fillRect b="-1158"/>
                </a:stretch>
              </a:blipFill>
              <a:ln w="28575">
                <a:solidFill>
                  <a:srgbClr val="E0700D"/>
                </a:solidFill>
              </a:ln>
            </p:spPr>
            <p:txBody>
              <a:bodyPr/>
              <a:lstStyle/>
              <a:p>
                <a:r>
                  <a:rPr lang="en-US">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59B6428-4395-242F-54D8-A9FC610F2D7A}"/>
                  </a:ext>
                </a:extLst>
              </p:cNvPr>
              <p:cNvSpPr txBox="1"/>
              <p:nvPr/>
            </p:nvSpPr>
            <p:spPr>
              <a:xfrm>
                <a:off x="609440" y="2709096"/>
                <a:ext cx="5486559" cy="1200329"/>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b="1"/>
                  <a:t>neff_TE0 vs </a:t>
                </a:r>
                <a14:m>
                  <m:oMath xmlns:m="http://schemas.openxmlformats.org/officeDocument/2006/math">
                    <m:r>
                      <a:rPr lang="es-ES" b="1" i="1" smtClean="0">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9" name="CuadroTexto 8">
                <a:extLst>
                  <a:ext uri="{FF2B5EF4-FFF2-40B4-BE49-F238E27FC236}">
                    <a16:creationId xmlns:a16="http://schemas.microsoft.com/office/drawing/2014/main" id="{C59B6428-4395-242F-54D8-A9FC610F2D7A}"/>
                  </a:ext>
                </a:extLst>
              </p:cNvPr>
              <p:cNvSpPr txBox="1">
                <a:spLocks noRot="1" noChangeAspect="1" noMove="1" noResize="1" noEditPoints="1" noAdjustHandles="1" noChangeArrowheads="1" noChangeShapeType="1" noTextEdit="1"/>
              </p:cNvSpPr>
              <p:nvPr/>
            </p:nvSpPr>
            <p:spPr>
              <a:xfrm>
                <a:off x="609440" y="2709096"/>
                <a:ext cx="5486559" cy="1200329"/>
              </a:xfrm>
              <a:prstGeom prst="rect">
                <a:avLst/>
              </a:prstGeom>
              <a:blipFill>
                <a:blip r:embed="rId6"/>
                <a:stretch>
                  <a:fillRect t="-2538" r="-556"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320AF78-1FC6-19F4-8E0B-8A414F20C6DE}"/>
                  </a:ext>
                </a:extLst>
              </p:cNvPr>
              <p:cNvSpPr txBox="1"/>
              <p:nvPr/>
            </p:nvSpPr>
            <p:spPr>
              <a:xfrm>
                <a:off x="6321421" y="2709096"/>
                <a:ext cx="5486559" cy="1200329"/>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b="1"/>
                  <a:t>neff_TE0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a:p>
                <a:pPr algn="ctr"/>
                <a:r>
                  <a:rPr lang="en-US"/>
                  <a:t>&amp; </a:t>
                </a:r>
                <a:r>
                  <a:rPr lang="en-US" b="1"/>
                  <a:t>neff_TM0 vs </a:t>
                </a:r>
                <a14:m>
                  <m:oMath xmlns:m="http://schemas.openxmlformats.org/officeDocument/2006/math">
                    <m:r>
                      <a:rPr lang="es-ES" b="1" i="1">
                        <a:latin typeface="Cambria Math" panose="02040503050406030204" pitchFamily="18" charset="0"/>
                      </a:rPr>
                      <m:t>𝝀</m:t>
                    </m:r>
                  </m:oMath>
                </a14:m>
                <a:r>
                  <a:rPr lang="en-US" b="1"/>
                  <a:t> </a:t>
                </a:r>
                <a:r>
                  <a:rPr lang="en-US"/>
                  <a:t>with the second-degree polynomial fit </a:t>
                </a:r>
              </a:p>
            </p:txBody>
          </p:sp>
        </mc:Choice>
        <mc:Fallback xmlns="">
          <p:sp>
            <p:nvSpPr>
              <p:cNvPr id="10" name="CuadroTexto 9">
                <a:extLst>
                  <a:ext uri="{FF2B5EF4-FFF2-40B4-BE49-F238E27FC236}">
                    <a16:creationId xmlns:a16="http://schemas.microsoft.com/office/drawing/2014/main" id="{9320AF78-1FC6-19F4-8E0B-8A414F20C6DE}"/>
                  </a:ext>
                </a:extLst>
              </p:cNvPr>
              <p:cNvSpPr txBox="1">
                <a:spLocks noRot="1" noChangeAspect="1" noMove="1" noResize="1" noEditPoints="1" noAdjustHandles="1" noChangeArrowheads="1" noChangeShapeType="1" noTextEdit="1"/>
              </p:cNvSpPr>
              <p:nvPr/>
            </p:nvSpPr>
            <p:spPr>
              <a:xfrm>
                <a:off x="6321421" y="2709096"/>
                <a:ext cx="5486559" cy="1200329"/>
              </a:xfrm>
              <a:prstGeom prst="rect">
                <a:avLst/>
              </a:prstGeom>
              <a:blipFill>
                <a:blip r:embed="rId7"/>
                <a:stretch>
                  <a:fillRect t="-2538" r="-556" b="-7107"/>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0F38E924-A0E7-A039-C837-916BA77FE89B}"/>
              </a:ext>
            </a:extLst>
          </p:cNvPr>
          <p:cNvSpPr txBox="1"/>
          <p:nvPr/>
        </p:nvSpPr>
        <p:spPr>
          <a:xfrm>
            <a:off x="6347361" y="4498712"/>
            <a:ext cx="5486560" cy="276999"/>
          </a:xfrm>
          <a:prstGeom prst="rect">
            <a:avLst/>
          </a:prstGeom>
          <a:noFill/>
        </p:spPr>
        <p:txBody>
          <a:bodyPr wrap="square">
            <a:spAutoFit/>
          </a:bodyPr>
          <a:lstStyle/>
          <a:p>
            <a:pPr algn="r"/>
            <a:r>
              <a:rPr lang="en-US" sz="1200" b="1">
                <a:solidFill>
                  <a:schemeClr val="tx1"/>
                </a:solidFill>
                <a:latin typeface="Arial" panose="020B0604020202020204" pitchFamily="34" charset="0"/>
                <a:cs typeface="Arial" panose="020B0604020202020204" pitchFamily="34" charset="0"/>
              </a:rPr>
              <a:t>slab: 150nm</a:t>
            </a:r>
            <a:endParaRPr lang="en-US" sz="1200">
              <a:solidFill>
                <a:schemeClr val="tx1"/>
              </a:solidFill>
              <a:latin typeface="Arial" panose="020B0604020202020204" pitchFamily="34" charset="0"/>
              <a:cs typeface="Arial" panose="020B0604020202020204" pitchFamily="34" charset="0"/>
            </a:endParaRPr>
          </a:p>
        </p:txBody>
      </p:sp>
      <p:pic>
        <p:nvPicPr>
          <p:cNvPr id="7" name="Imagen 6" descr="Gráfico, Gráfico de líneas, Gráfico de dispersión&#10;&#10;El contenido generado por IA puede ser incorrecto.">
            <a:extLst>
              <a:ext uri="{FF2B5EF4-FFF2-40B4-BE49-F238E27FC236}">
                <a16:creationId xmlns:a16="http://schemas.microsoft.com/office/drawing/2014/main" id="{E2BEBA90-EB9E-F59B-4C13-ED4C9796BD09}"/>
              </a:ext>
            </a:extLst>
          </p:cNvPr>
          <p:cNvPicPr>
            <a:picLocks noChangeAspect="1"/>
          </p:cNvPicPr>
          <p:nvPr/>
        </p:nvPicPr>
        <p:blipFill>
          <a:blip r:embed="rId8"/>
          <a:stretch>
            <a:fillRect/>
          </a:stretch>
        </p:blipFill>
        <p:spPr>
          <a:xfrm>
            <a:off x="624509" y="1446191"/>
            <a:ext cx="5456420" cy="2725311"/>
          </a:xfrm>
          <a:prstGeom prst="rect">
            <a:avLst/>
          </a:prstGeom>
        </p:spPr>
      </p:pic>
      <p:pic>
        <p:nvPicPr>
          <p:cNvPr id="11" name="Imagen 10">
            <a:extLst>
              <a:ext uri="{FF2B5EF4-FFF2-40B4-BE49-F238E27FC236}">
                <a16:creationId xmlns:a16="http://schemas.microsoft.com/office/drawing/2014/main" id="{D400C914-BC2F-6D65-23C2-121EDCA0D1FB}"/>
              </a:ext>
            </a:extLst>
          </p:cNvPr>
          <p:cNvPicPr>
            <a:picLocks noChangeAspect="1"/>
          </p:cNvPicPr>
          <p:nvPr/>
        </p:nvPicPr>
        <p:blipFill>
          <a:blip r:embed="rId9"/>
          <a:stretch>
            <a:fillRect/>
          </a:stretch>
        </p:blipFill>
        <p:spPr>
          <a:xfrm>
            <a:off x="1348076" y="4213243"/>
            <a:ext cx="3805085" cy="529685"/>
          </a:xfrm>
          <a:prstGeom prst="rect">
            <a:avLst/>
          </a:prstGeom>
        </p:spPr>
      </p:pic>
      <p:pic>
        <p:nvPicPr>
          <p:cNvPr id="14" name="Imagen 13">
            <a:extLst>
              <a:ext uri="{FF2B5EF4-FFF2-40B4-BE49-F238E27FC236}">
                <a16:creationId xmlns:a16="http://schemas.microsoft.com/office/drawing/2014/main" id="{59B0ED7C-2718-C7E2-D391-6A1C34EEF825}"/>
              </a:ext>
            </a:extLst>
          </p:cNvPr>
          <p:cNvPicPr>
            <a:picLocks noChangeAspect="1"/>
          </p:cNvPicPr>
          <p:nvPr/>
        </p:nvPicPr>
        <p:blipFill>
          <a:blip r:embed="rId10"/>
          <a:stretch>
            <a:fillRect/>
          </a:stretch>
        </p:blipFill>
        <p:spPr>
          <a:xfrm>
            <a:off x="6984754" y="4171502"/>
            <a:ext cx="3859170" cy="545852"/>
          </a:xfrm>
          <a:prstGeom prst="rect">
            <a:avLst/>
          </a:prstGeom>
        </p:spPr>
      </p:pic>
      <p:pic>
        <p:nvPicPr>
          <p:cNvPr id="17" name="Imagen 16">
            <a:extLst>
              <a:ext uri="{FF2B5EF4-FFF2-40B4-BE49-F238E27FC236}">
                <a16:creationId xmlns:a16="http://schemas.microsoft.com/office/drawing/2014/main" id="{E4A3848E-7BE9-C620-D33E-32DFE291C7A9}"/>
              </a:ext>
            </a:extLst>
          </p:cNvPr>
          <p:cNvPicPr>
            <a:picLocks noChangeAspect="1"/>
          </p:cNvPicPr>
          <p:nvPr/>
        </p:nvPicPr>
        <p:blipFill>
          <a:blip r:embed="rId11"/>
          <a:stretch>
            <a:fillRect/>
          </a:stretch>
        </p:blipFill>
        <p:spPr>
          <a:xfrm>
            <a:off x="6459341" y="1484289"/>
            <a:ext cx="5210717" cy="2602590"/>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Bend waveguide radius vs. loss – deep</a:t>
            </a:r>
            <a:br>
              <a:rPr lang="en-US" sz="2500"/>
            </a:br>
            <a:r>
              <a:rPr lang="en-US" b="0"/>
              <a:t>Find  neff_TE0 for </a:t>
            </a:r>
            <a:r>
              <a:rPr lang="en-US" b="0" err="1"/>
              <a:t>wvl</a:t>
            </a:r>
            <a:r>
              <a:rPr lang="en-US" b="0"/>
              <a:t> 1.55 µm, width 1.2 µm for R=25,50,75,100, 125,150 µm</a:t>
            </a:r>
            <a:br>
              <a:rPr lang="en-US" sz="2500"/>
            </a:b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lIns="91440" tIns="45720" rIns="91440" bIns="45720" rtlCol="0" anchor="t">
            <a:spAutoFit/>
          </a:bodyPr>
          <a:lstStyle/>
          <a:p>
            <a:pPr algn="just"/>
            <a:r>
              <a:rPr lang="es-ES" sz="1200">
                <a:latin typeface="Arial"/>
                <a:cs typeface="Arial"/>
              </a:rPr>
              <a:t>El radio de curvatura influye directamente en el confinamiento del modo y en las pérdidas totales. A radios pequeños, las pérdidas por radiación aumentan drásticamente porque el frente de onda no puede seguir la trayectoria curva y la luz se escapa hacia el </a:t>
            </a:r>
            <a:r>
              <a:rPr lang="es-ES" sz="1200" err="1">
                <a:latin typeface="Arial"/>
                <a:cs typeface="Arial"/>
              </a:rPr>
              <a:t>cladding</a:t>
            </a:r>
            <a:r>
              <a:rPr lang="es-ES" sz="1200">
                <a:latin typeface="Arial"/>
                <a:cs typeface="Arial"/>
              </a:rPr>
              <a:t>. Conforme el radio aumenta, la guía se comporta de forma similar a una guía recta, minimizando estas pérdidas.</a:t>
            </a:r>
          </a:p>
          <a:p>
            <a:pPr algn="just"/>
            <a:r>
              <a:rPr lang="es-ES" sz="1200">
                <a:latin typeface="Arial"/>
                <a:cs typeface="Arial"/>
              </a:rPr>
              <a:t>Se definen como radios seguros aquellos mayores que 37.5 µm, ya que es el punto donde las pérdidas totales caen por debajo del umbral de 0.1 dB.</a:t>
            </a:r>
          </a:p>
          <a:p>
            <a:pPr algn="just"/>
            <a:endParaRPr lang="en-US" sz="1200">
              <a:latin typeface="Arial" panose="020B0604020202020204" pitchFamily="34" charset="0"/>
              <a:cs typeface="Arial" panose="020B0604020202020204" pitchFamily="34" charset="0"/>
            </a:endParaRPr>
          </a:p>
          <a:p>
            <a:pPr algn="just"/>
            <a:r>
              <a:rPr lang="es-ES" sz="1200">
                <a:latin typeface="Arial"/>
                <a:cs typeface="Arial"/>
              </a:rPr>
              <a:t>Respecto al índice efectivo (n </a:t>
            </a:r>
            <a:r>
              <a:rPr lang="es-ES" sz="1200" err="1">
                <a:latin typeface="Arial"/>
                <a:cs typeface="Arial"/>
              </a:rPr>
              <a:t>eff</a:t>
            </a:r>
            <a:r>
              <a:rPr lang="es-ES" sz="1200">
                <a:latin typeface="Arial"/>
                <a:cs typeface="Arial"/>
              </a:rPr>
              <a:t>​ ), la gráfica muestra que tiende a estabilizarse en radios grandes. Sin embargo, en radios muy reducidos aparecen fluctuaciones o 'picos' debido a que el perfil del modo se deforma y se desplaza hacia el borde exterior de la guía por el efecto de la curvatura.</a:t>
            </a:r>
            <a:endParaRPr lang="en-US" sz="1200">
              <a:latin typeface="Arial"/>
              <a:cs typeface="Arial"/>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descr="Gráfico, Gráfico de dispersión&#10;&#10;El contenido generado por IA puede ser incorrecto.">
            <a:extLst>
              <a:ext uri="{FF2B5EF4-FFF2-40B4-BE49-F238E27FC236}">
                <a16:creationId xmlns:a16="http://schemas.microsoft.com/office/drawing/2014/main" id="{BE2BD325-CD4D-E161-5449-398881EEA6CB}"/>
              </a:ext>
            </a:extLst>
          </p:cNvPr>
          <p:cNvPicPr>
            <a:picLocks noChangeAspect="1"/>
          </p:cNvPicPr>
          <p:nvPr/>
        </p:nvPicPr>
        <p:blipFill>
          <a:blip r:embed="rId5"/>
          <a:stretch>
            <a:fillRect/>
          </a:stretch>
        </p:blipFill>
        <p:spPr>
          <a:xfrm>
            <a:off x="1299811" y="1446481"/>
            <a:ext cx="4105977" cy="3243436"/>
          </a:xfrm>
          <a:prstGeom prst="rect">
            <a:avLst/>
          </a:prstGeom>
        </p:spPr>
      </p:pic>
      <p:pic>
        <p:nvPicPr>
          <p:cNvPr id="11" name="Imagen 10" descr="Gráfico, Gráfico de líneas&#10;&#10;El contenido generado por IA puede ser incorrecto.">
            <a:extLst>
              <a:ext uri="{FF2B5EF4-FFF2-40B4-BE49-F238E27FC236}">
                <a16:creationId xmlns:a16="http://schemas.microsoft.com/office/drawing/2014/main" id="{468AAD61-52A4-CAD7-0862-A1518E91164B}"/>
              </a:ext>
            </a:extLst>
          </p:cNvPr>
          <p:cNvPicPr>
            <a:picLocks noChangeAspect="1"/>
          </p:cNvPicPr>
          <p:nvPr/>
        </p:nvPicPr>
        <p:blipFill>
          <a:blip r:embed="rId6"/>
          <a:stretch>
            <a:fillRect/>
          </a:stretch>
        </p:blipFill>
        <p:spPr>
          <a:xfrm>
            <a:off x="7110087" y="1597272"/>
            <a:ext cx="3976793" cy="3051334"/>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FC5B7-927A-5B7F-D5F5-29A6BB298DF7}"/>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DFA4ECAB-9AB2-EEAD-91C4-241BAD223E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0841796-2BDC-2A45-A554-F45C329FF4A1}"/>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5C184697-6696-2A9B-0299-E8A34403616F}"/>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FD25AE01-58CE-7406-B5FB-319E588EDEE3}"/>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Se </a:t>
            </a:r>
            <a:r>
              <a:rPr lang="en-US" sz="1200" dirty="0" err="1">
                <a:latin typeface="Arial" panose="020B0604020202020204" pitchFamily="34" charset="0"/>
                <a:cs typeface="Arial" panose="020B0604020202020204" pitchFamily="34" charset="0"/>
              </a:rPr>
              <a:t>aprecia</a:t>
            </a:r>
            <a:r>
              <a:rPr lang="en-US" sz="1200" dirty="0">
                <a:latin typeface="Arial" panose="020B0604020202020204" pitchFamily="34" charset="0"/>
                <a:cs typeface="Arial" panose="020B0604020202020204" pitchFamily="34" charset="0"/>
              </a:rPr>
              <a:t> un gran </a:t>
            </a:r>
            <a:r>
              <a:rPr lang="en-US" sz="1200" dirty="0" err="1">
                <a:latin typeface="Arial" panose="020B0604020202020204" pitchFamily="34" charset="0"/>
                <a:cs typeface="Arial" panose="020B0604020202020204" pitchFamily="34" charset="0"/>
              </a:rPr>
              <a:t>aumento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respecto</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 Esto es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es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proporcionando</a:t>
            </a:r>
            <a:r>
              <a:rPr lang="en-US" sz="1200" dirty="0">
                <a:latin typeface="Arial" panose="020B0604020202020204" pitchFamily="34" charset="0"/>
                <a:cs typeface="Arial" panose="020B0604020202020204" pitchFamily="34" charset="0"/>
              </a:rPr>
              <a:t> un mayor </a:t>
            </a:r>
            <a:r>
              <a:rPr lang="en-US" sz="1200" dirty="0" err="1">
                <a:latin typeface="Arial" panose="020B0604020202020204" pitchFamily="34" charset="0"/>
                <a:cs typeface="Arial" panose="020B0604020202020204" pitchFamily="34" charset="0"/>
              </a:rPr>
              <a:t>contraste</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cladding, de forma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es mayor. A </a:t>
            </a:r>
            <a:r>
              <a:rPr lang="en-US" sz="1200" dirty="0" err="1">
                <a:latin typeface="Arial" panose="020B0604020202020204" pitchFamily="34" charset="0"/>
                <a:cs typeface="Arial" panose="020B0604020202020204" pitchFamily="34" charset="0"/>
              </a:rPr>
              <a:t>pesar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nivel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(~3.4),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reducido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cuanto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se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un modo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(modo 2)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tecnología</a:t>
            </a:r>
            <a:r>
              <a:rPr lang="en-US" sz="1200" dirty="0">
                <a:latin typeface="Arial" panose="020B0604020202020204" pitchFamily="34" charset="0"/>
                <a:cs typeface="Arial" panose="020B0604020202020204" pitchFamily="34" charset="0"/>
              </a:rPr>
              <a:t> anterior,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ahora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0, 1 y 2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encima</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refracción</a:t>
            </a:r>
            <a:r>
              <a:rPr lang="en-US" sz="1200" dirty="0">
                <a:latin typeface="Arial" panose="020B0604020202020204" pitchFamily="34" charset="0"/>
                <a:cs typeface="Arial" panose="020B0604020202020204" pitchFamily="34" charset="0"/>
              </a:rPr>
              <a:t> del cladding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banda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analizada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cuatro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vistos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tienen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altos y </a:t>
            </a:r>
            <a:r>
              <a:rPr lang="en-US" sz="1200" dirty="0" err="1">
                <a:latin typeface="Arial" panose="020B0604020202020204" pitchFamily="34" charset="0"/>
                <a:cs typeface="Arial" panose="020B0604020202020204" pitchFamily="34" charset="0"/>
              </a:rPr>
              <a:t>cercanos</a:t>
            </a:r>
            <a:r>
              <a:rPr lang="en-US" sz="1200" dirty="0">
                <a:latin typeface="Arial" panose="020B0604020202020204" pitchFamily="34" charset="0"/>
                <a:cs typeface="Arial" panose="020B0604020202020204" pitchFamily="34" charset="0"/>
              </a:rPr>
              <a:t> a un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valor (2.5), 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existía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mayor </a:t>
            </a:r>
            <a:r>
              <a:rPr lang="en-US" sz="1200" dirty="0" err="1">
                <a:latin typeface="Arial" panose="020B0604020202020204" pitchFamily="34" charset="0"/>
                <a:cs typeface="Arial" panose="020B0604020202020204" pitchFamily="34" charset="0"/>
              </a:rPr>
              <a:t>separación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a:t>
            </a:r>
          </a:p>
        </p:txBody>
      </p:sp>
      <p:sp>
        <p:nvSpPr>
          <p:cNvPr id="6" name="Rectángulo 5">
            <a:extLst>
              <a:ext uri="{FF2B5EF4-FFF2-40B4-BE49-F238E27FC236}">
                <a16:creationId xmlns:a16="http://schemas.microsoft.com/office/drawing/2014/main" id="{34B6CE3A-8A94-4119-AB2E-D655EA61466F}"/>
              </a:ext>
            </a:extLst>
          </p:cNvPr>
          <p:cNvSpPr/>
          <p:nvPr/>
        </p:nvSpPr>
        <p:spPr>
          <a:xfrm>
            <a:off x="609442" y="1418373"/>
            <a:ext cx="8554224"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16">
            <a:extLst>
              <a:ext uri="{FF2B5EF4-FFF2-40B4-BE49-F238E27FC236}">
                <a16:creationId xmlns:a16="http://schemas.microsoft.com/office/drawing/2014/main" id="{FEC28F32-6CA3-9CA2-34DC-07CC235FF3B3}"/>
              </a:ext>
            </a:extLst>
          </p:cNvPr>
          <p:cNvSpPr txBox="1">
            <a:spLocks/>
          </p:cNvSpPr>
          <p:nvPr/>
        </p:nvSpPr>
        <p:spPr>
          <a:xfrm>
            <a:off x="685800" y="408883"/>
            <a:ext cx="10994410" cy="1487587"/>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EXTRA –Wavelength behavior Silicon-On-Insulator</a:t>
            </a:r>
            <a:br>
              <a:rPr lang="en-US" sz="2500" kern="0"/>
            </a:br>
            <a:r>
              <a:rPr lang="en-US" b="0"/>
              <a:t>Wavelength 1.5-1.6 µm (step 0.01 µm) – 220 nm </a:t>
            </a:r>
            <a:r>
              <a:rPr lang="en-US" b="0" err="1"/>
              <a:t>heigth</a:t>
            </a:r>
            <a:r>
              <a:rPr lang="en-US" b="0"/>
              <a:t> and 500 nm width. </a:t>
            </a:r>
          </a:p>
          <a:p>
            <a:pPr marL="12700">
              <a:spcBef>
                <a:spcPts val="100"/>
              </a:spcBef>
            </a:pPr>
            <a:br>
              <a:rPr lang="en-US" sz="2500" kern="0"/>
            </a:br>
            <a:endParaRPr lang="en-US" sz="2500" b="0" kern="0">
              <a:latin typeface="+mj-lt"/>
              <a:cs typeface="Lucida Sans"/>
            </a:endParaRPr>
          </a:p>
        </p:txBody>
      </p:sp>
      <p:pic>
        <p:nvPicPr>
          <p:cNvPr id="14" name="Imagen 13">
            <a:extLst>
              <a:ext uri="{FF2B5EF4-FFF2-40B4-BE49-F238E27FC236}">
                <a16:creationId xmlns:a16="http://schemas.microsoft.com/office/drawing/2014/main" id="{58B08431-DFB6-E741-636D-126FD8DC8AA3}"/>
              </a:ext>
            </a:extLst>
          </p:cNvPr>
          <p:cNvPicPr>
            <a:picLocks noChangeAspect="1"/>
          </p:cNvPicPr>
          <p:nvPr/>
        </p:nvPicPr>
        <p:blipFill>
          <a:blip r:embed="rId5"/>
          <a:stretch>
            <a:fillRect/>
          </a:stretch>
        </p:blipFill>
        <p:spPr>
          <a:xfrm>
            <a:off x="637294" y="2014872"/>
            <a:ext cx="4168147" cy="2486338"/>
          </a:xfrm>
          <a:prstGeom prst="rect">
            <a:avLst/>
          </a:prstGeom>
        </p:spPr>
      </p:pic>
      <p:pic>
        <p:nvPicPr>
          <p:cNvPr id="17" name="Imagen 16">
            <a:extLst>
              <a:ext uri="{FF2B5EF4-FFF2-40B4-BE49-F238E27FC236}">
                <a16:creationId xmlns:a16="http://schemas.microsoft.com/office/drawing/2014/main" id="{B910BFD7-DD2D-6E30-E223-AAC34472D0AF}"/>
              </a:ext>
            </a:extLst>
          </p:cNvPr>
          <p:cNvPicPr>
            <a:picLocks noChangeAspect="1"/>
          </p:cNvPicPr>
          <p:nvPr/>
        </p:nvPicPr>
        <p:blipFill>
          <a:blip r:embed="rId6"/>
          <a:stretch>
            <a:fillRect/>
          </a:stretch>
        </p:blipFill>
        <p:spPr>
          <a:xfrm>
            <a:off x="4785355" y="1989270"/>
            <a:ext cx="4394687" cy="2589311"/>
          </a:xfrm>
          <a:prstGeom prst="rect">
            <a:avLst/>
          </a:prstGeom>
        </p:spPr>
      </p:pic>
      <p:pic>
        <p:nvPicPr>
          <p:cNvPr id="18" name="Imagen 17" descr="Gráfico, Gráfico de líneas&#10;&#10;El contenido generado por IA puede ser incorrecto.">
            <a:extLst>
              <a:ext uri="{FF2B5EF4-FFF2-40B4-BE49-F238E27FC236}">
                <a16:creationId xmlns:a16="http://schemas.microsoft.com/office/drawing/2014/main" id="{F26A2CE4-3ED4-D64B-805D-13286DD158D0}"/>
              </a:ext>
            </a:extLst>
          </p:cNvPr>
          <p:cNvPicPr>
            <a:picLocks noChangeAspect="1"/>
          </p:cNvPicPr>
          <p:nvPr/>
        </p:nvPicPr>
        <p:blipFill>
          <a:blip r:embed="rId7"/>
          <a:stretch>
            <a:fillRect/>
          </a:stretch>
        </p:blipFill>
        <p:spPr>
          <a:xfrm>
            <a:off x="9402597" y="892473"/>
            <a:ext cx="2622242" cy="1529641"/>
          </a:xfrm>
          <a:prstGeom prst="rect">
            <a:avLst/>
          </a:prstGeom>
        </p:spPr>
      </p:pic>
      <p:sp>
        <p:nvSpPr>
          <p:cNvPr id="20" name="Rectángulo 19">
            <a:extLst>
              <a:ext uri="{FF2B5EF4-FFF2-40B4-BE49-F238E27FC236}">
                <a16:creationId xmlns:a16="http://schemas.microsoft.com/office/drawing/2014/main" id="{9AB8AB00-A01D-2CD1-1163-1D627A56FBDD}"/>
              </a:ext>
            </a:extLst>
          </p:cNvPr>
          <p:cNvSpPr/>
          <p:nvPr/>
        </p:nvSpPr>
        <p:spPr>
          <a:xfrm>
            <a:off x="9272298" y="408883"/>
            <a:ext cx="2713200" cy="431551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uadroTexto 20">
            <a:extLst>
              <a:ext uri="{FF2B5EF4-FFF2-40B4-BE49-F238E27FC236}">
                <a16:creationId xmlns:a16="http://schemas.microsoft.com/office/drawing/2014/main" id="{45D53700-C646-4D80-A20B-9751CB018101}"/>
              </a:ext>
            </a:extLst>
          </p:cNvPr>
          <p:cNvSpPr txBox="1"/>
          <p:nvPr/>
        </p:nvSpPr>
        <p:spPr>
          <a:xfrm>
            <a:off x="9311640" y="521110"/>
            <a:ext cx="2622242" cy="369332"/>
          </a:xfrm>
          <a:prstGeom prst="rect">
            <a:avLst/>
          </a:prstGeom>
          <a:noFill/>
        </p:spPr>
        <p:txBody>
          <a:bodyPr wrap="square" rtlCol="0">
            <a:spAutoFit/>
          </a:bodyPr>
          <a:lstStyle/>
          <a:p>
            <a:pPr algn="ctr"/>
            <a:r>
              <a:rPr lang="es-ES" b="1" err="1"/>
              <a:t>SiNx</a:t>
            </a:r>
            <a:endParaRPr lang="es-ES" b="1"/>
          </a:p>
        </p:txBody>
      </p:sp>
      <p:sp>
        <p:nvSpPr>
          <p:cNvPr id="22" name="CuadroTexto 21">
            <a:extLst>
              <a:ext uri="{FF2B5EF4-FFF2-40B4-BE49-F238E27FC236}">
                <a16:creationId xmlns:a16="http://schemas.microsoft.com/office/drawing/2014/main" id="{AF4F6527-A0DC-B0A3-EB7B-1C24659CDD90}"/>
              </a:ext>
            </a:extLst>
          </p:cNvPr>
          <p:cNvSpPr txBox="1"/>
          <p:nvPr/>
        </p:nvSpPr>
        <p:spPr>
          <a:xfrm>
            <a:off x="3343225" y="1418871"/>
            <a:ext cx="2622242" cy="369332"/>
          </a:xfrm>
          <a:prstGeom prst="rect">
            <a:avLst/>
          </a:prstGeom>
          <a:noFill/>
        </p:spPr>
        <p:txBody>
          <a:bodyPr wrap="square" rtlCol="0">
            <a:spAutoFit/>
          </a:bodyPr>
          <a:lstStyle/>
          <a:p>
            <a:pPr algn="ctr"/>
            <a:r>
              <a:rPr lang="es-ES" b="1"/>
              <a:t>SOI</a:t>
            </a:r>
          </a:p>
        </p:txBody>
      </p:sp>
      <p:pic>
        <p:nvPicPr>
          <p:cNvPr id="23" name="Imagen 22" descr="Gráfico, Gráfico de líneas&#10;&#10;El contenido generado por IA puede ser incorrecto.">
            <a:extLst>
              <a:ext uri="{FF2B5EF4-FFF2-40B4-BE49-F238E27FC236}">
                <a16:creationId xmlns:a16="http://schemas.microsoft.com/office/drawing/2014/main" id="{F96B05B9-9CA9-1604-4139-7A4100097D63}"/>
              </a:ext>
            </a:extLst>
          </p:cNvPr>
          <p:cNvPicPr>
            <a:picLocks noChangeAspect="1"/>
          </p:cNvPicPr>
          <p:nvPr/>
        </p:nvPicPr>
        <p:blipFill>
          <a:blip r:embed="rId8"/>
          <a:stretch>
            <a:fillRect/>
          </a:stretch>
        </p:blipFill>
        <p:spPr>
          <a:xfrm>
            <a:off x="9402597" y="2685206"/>
            <a:ext cx="2550149" cy="1487587"/>
          </a:xfrm>
          <a:prstGeom prst="rect">
            <a:avLst/>
          </a:prstGeom>
        </p:spPr>
      </p:pic>
    </p:spTree>
    <p:extLst>
      <p:ext uri="{BB962C8B-B14F-4D97-AF65-F5344CB8AC3E}">
        <p14:creationId xmlns:p14="http://schemas.microsoft.com/office/powerpoint/2010/main" val="104540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F62C-F2DC-082B-2569-9122280A8424}"/>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BD7A8362-7059-916F-3604-E25DB38E19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6BD1F1B-4B3E-DB0A-0DA8-DC263E1D31B3}"/>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B33C70D8-7F35-A04E-268C-BE27E409B815}"/>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C49C91CD-91CD-9F84-23A1-A7D698B07903}"/>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del SOI se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 mayor </a:t>
            </a:r>
            <a:r>
              <a:rPr lang="en-US" sz="1200" dirty="0" err="1">
                <a:latin typeface="Arial" panose="020B0604020202020204" pitchFamily="34" charset="0"/>
                <a:cs typeface="Arial" panose="020B0604020202020204" pitchFamily="34" charset="0"/>
              </a:rPr>
              <a:t>anchura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mayor es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lo tanto,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encuentra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a:t>
            </a:r>
          </a:p>
          <a:p>
            <a:pPr algn="just"/>
            <a:r>
              <a:rPr lang="en-US" sz="1200" dirty="0">
                <a:latin typeface="Arial" panose="020B0604020202020204" pitchFamily="34" charset="0"/>
                <a:cs typeface="Arial" panose="020B0604020202020204" pitchFamily="34" charset="0"/>
              </a:rPr>
              <a:t>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0 y 1  se propagan para todo el rango de anchos analizado ya que su índice efectivo está siempre por encima del índice de la cubierta. Sin embargo, el modo 2 (verde), empieza a propagarse aproximadamente a partir de un ancho de 0.45 </a:t>
            </a:r>
            <a:r>
              <a:rPr lang="el-GR" sz="1200" dirty="0">
                <a:latin typeface="Arial" panose="020B0604020202020204" pitchFamily="34" charset="0"/>
                <a:ea typeface="Cambria Math" panose="02040503050406030204" pitchFamily="18" charset="0"/>
                <a:cs typeface="Arial" panose="020B0604020202020204" pitchFamily="34" charset="0"/>
              </a:rPr>
              <a:t>μ</a:t>
            </a:r>
            <a:r>
              <a:rPr lang="es-ES" sz="1200" dirty="0">
                <a:latin typeface="Arial" panose="020B0604020202020204" pitchFamily="34" charset="0"/>
                <a:cs typeface="Arial" panose="020B0604020202020204" pitchFamily="34" charset="0"/>
              </a:rPr>
              <a:t>m, que es cuando supera al índice del SiO</a:t>
            </a:r>
            <a:r>
              <a:rPr lang="es-ES" sz="1100" dirty="0">
                <a:latin typeface="Arial" panose="020B0604020202020204" pitchFamily="34" charset="0"/>
                <a:cs typeface="Arial" panose="020B0604020202020204" pitchFamily="34" charset="0"/>
              </a:rPr>
              <a:t>2</a:t>
            </a:r>
            <a:r>
              <a:rPr lang="es-ES" sz="1200" dirty="0">
                <a:latin typeface="Arial" panose="020B0604020202020204" pitchFamily="34" charset="0"/>
                <a:cs typeface="Arial" panose="020B0604020202020204" pitchFamily="34" charset="0"/>
              </a:rPr>
              <a:t> (cubierta). El modo 3 necesita un ancho mayor, aproximadamente de 0.6 </a:t>
            </a:r>
            <a:r>
              <a:rPr lang="el-GR" sz="1200" dirty="0">
                <a:latin typeface="Arial" panose="020B0604020202020204" pitchFamily="34" charset="0"/>
                <a:ea typeface="Cambria Math" panose="02040503050406030204" pitchFamily="18" charset="0"/>
                <a:cs typeface="Arial" panose="020B0604020202020204" pitchFamily="34" charset="0"/>
              </a:rPr>
              <a:t>μ</a:t>
            </a:r>
            <a:r>
              <a:rPr lang="es-ES" sz="1200" dirty="0">
                <a:latin typeface="Arial" panose="020B0604020202020204" pitchFamily="34" charset="0"/>
                <a:cs typeface="Arial" panose="020B0604020202020204" pitchFamily="34" charset="0"/>
              </a:rPr>
              <a:t>m para empezar a guiarse por el núcleo.</a:t>
            </a: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Por otro lado, en la gráfica de </a:t>
            </a:r>
            <a:r>
              <a:rPr lang="es-ES" sz="1200" dirty="0" err="1">
                <a:latin typeface="Arial" panose="020B0604020202020204" pitchFamily="34" charset="0"/>
                <a:cs typeface="Arial" panose="020B0604020202020204" pitchFamily="34" charset="0"/>
              </a:rPr>
              <a:t>SiNx</a:t>
            </a:r>
            <a:r>
              <a:rPr lang="es-ES" sz="1200" dirty="0">
                <a:latin typeface="Arial" panose="020B0604020202020204" pitchFamily="34" charset="0"/>
                <a:cs typeface="Arial" panose="020B0604020202020204" pitchFamily="34" charset="0"/>
              </a:rPr>
              <a:t>, los valores de índice efectivo como se puede observar son más bajos (máximo de 1.625, a diferencia del SOI que es 2.8), lo que refleja un menor contraste de índice (comparando el núcleo con la cubierta) y por tanto un guiado menos confinado. Los modos 0 y 1 son los que necesitan un menor ancho para guiarse, mientras que para anchos pequeños (0.6 µm), los índices de los modos 2 y 3 están por debajo del de la cubierta, por lo que no se propagan. </a:t>
            </a:r>
          </a:p>
        </p:txBody>
      </p:sp>
      <p:sp>
        <p:nvSpPr>
          <p:cNvPr id="6" name="Rectángulo 5">
            <a:extLst>
              <a:ext uri="{FF2B5EF4-FFF2-40B4-BE49-F238E27FC236}">
                <a16:creationId xmlns:a16="http://schemas.microsoft.com/office/drawing/2014/main" id="{760DF49F-304A-EE3A-9424-F398225810A5}"/>
              </a:ext>
            </a:extLst>
          </p:cNvPr>
          <p:cNvSpPr/>
          <p:nvPr/>
        </p:nvSpPr>
        <p:spPr>
          <a:xfrm>
            <a:off x="609442" y="1418373"/>
            <a:ext cx="6400958"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16">
            <a:extLst>
              <a:ext uri="{FF2B5EF4-FFF2-40B4-BE49-F238E27FC236}">
                <a16:creationId xmlns:a16="http://schemas.microsoft.com/office/drawing/2014/main" id="{9C4E892E-BDB5-23EC-8183-2C5BE3142DC6}"/>
              </a:ext>
            </a:extLst>
          </p:cNvPr>
          <p:cNvSpPr txBox="1">
            <a:spLocks/>
          </p:cNvSpPr>
          <p:nvPr/>
        </p:nvSpPr>
        <p:spPr>
          <a:xfrm>
            <a:off x="685800" y="408883"/>
            <a:ext cx="10994410" cy="1487587"/>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EXTRA – Width dependence analysis Silicon-On-Insulator</a:t>
            </a:r>
            <a:br>
              <a:rPr lang="en-US" sz="2500" kern="0"/>
            </a:br>
            <a:r>
              <a:rPr lang="en-US" b="0"/>
              <a:t>Wavelength 1.5 µm – 220 nm </a:t>
            </a:r>
            <a:r>
              <a:rPr lang="en-US" b="0" err="1"/>
              <a:t>heigth</a:t>
            </a:r>
            <a:r>
              <a:rPr lang="en-US" b="0"/>
              <a:t>. </a:t>
            </a:r>
          </a:p>
          <a:p>
            <a:pPr marL="12700">
              <a:spcBef>
                <a:spcPts val="100"/>
              </a:spcBef>
            </a:pPr>
            <a:br>
              <a:rPr lang="en-US" sz="2500" kern="0"/>
            </a:br>
            <a:endParaRPr lang="en-US" sz="2500" b="0" kern="0">
              <a:latin typeface="+mj-lt"/>
              <a:cs typeface="Lucida Sans"/>
            </a:endParaRPr>
          </a:p>
        </p:txBody>
      </p:sp>
      <p:pic>
        <p:nvPicPr>
          <p:cNvPr id="5" name="Imagen 4">
            <a:extLst>
              <a:ext uri="{FF2B5EF4-FFF2-40B4-BE49-F238E27FC236}">
                <a16:creationId xmlns:a16="http://schemas.microsoft.com/office/drawing/2014/main" id="{FE2C94CA-D7AA-659C-5C92-AA8EEB9C1DA7}"/>
              </a:ext>
            </a:extLst>
          </p:cNvPr>
          <p:cNvPicPr>
            <a:picLocks noChangeAspect="1"/>
          </p:cNvPicPr>
          <p:nvPr/>
        </p:nvPicPr>
        <p:blipFill>
          <a:blip r:embed="rId5"/>
          <a:stretch>
            <a:fillRect/>
          </a:stretch>
        </p:blipFill>
        <p:spPr>
          <a:xfrm>
            <a:off x="1386347" y="1689201"/>
            <a:ext cx="5173897" cy="3011947"/>
          </a:xfrm>
          <a:prstGeom prst="rect">
            <a:avLst/>
          </a:prstGeom>
        </p:spPr>
      </p:pic>
      <p:sp>
        <p:nvSpPr>
          <p:cNvPr id="7" name="CuadroTexto 6">
            <a:extLst>
              <a:ext uri="{FF2B5EF4-FFF2-40B4-BE49-F238E27FC236}">
                <a16:creationId xmlns:a16="http://schemas.microsoft.com/office/drawing/2014/main" id="{101B0664-0A85-566D-D400-B0190D3C6232}"/>
              </a:ext>
            </a:extLst>
          </p:cNvPr>
          <p:cNvSpPr txBox="1"/>
          <p:nvPr/>
        </p:nvSpPr>
        <p:spPr>
          <a:xfrm>
            <a:off x="2422764" y="1408778"/>
            <a:ext cx="2622242" cy="369332"/>
          </a:xfrm>
          <a:prstGeom prst="rect">
            <a:avLst/>
          </a:prstGeom>
          <a:noFill/>
        </p:spPr>
        <p:txBody>
          <a:bodyPr wrap="square" rtlCol="0">
            <a:spAutoFit/>
          </a:bodyPr>
          <a:lstStyle/>
          <a:p>
            <a:pPr algn="ctr"/>
            <a:r>
              <a:rPr lang="es-ES" b="1"/>
              <a:t>SOI</a:t>
            </a:r>
          </a:p>
        </p:txBody>
      </p:sp>
      <p:sp>
        <p:nvSpPr>
          <p:cNvPr id="8" name="Rectángulo 7">
            <a:extLst>
              <a:ext uri="{FF2B5EF4-FFF2-40B4-BE49-F238E27FC236}">
                <a16:creationId xmlns:a16="http://schemas.microsoft.com/office/drawing/2014/main" id="{36E94B53-6D4C-D5FD-EC1A-FC0341B7C0E7}"/>
              </a:ext>
            </a:extLst>
          </p:cNvPr>
          <p:cNvSpPr/>
          <p:nvPr/>
        </p:nvSpPr>
        <p:spPr>
          <a:xfrm>
            <a:off x="7127523" y="1411623"/>
            <a:ext cx="468188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descr="Gráfico, Gráfico de líneas&#10;&#10;El contenido generado por IA puede ser incorrecto.">
            <a:extLst>
              <a:ext uri="{FF2B5EF4-FFF2-40B4-BE49-F238E27FC236}">
                <a16:creationId xmlns:a16="http://schemas.microsoft.com/office/drawing/2014/main" id="{6894FEF7-0DAB-7624-B77C-52FA5D0B7D43}"/>
              </a:ext>
            </a:extLst>
          </p:cNvPr>
          <p:cNvPicPr>
            <a:picLocks noChangeAspect="1"/>
          </p:cNvPicPr>
          <p:nvPr/>
        </p:nvPicPr>
        <p:blipFill>
          <a:blip r:embed="rId6"/>
          <a:stretch>
            <a:fillRect/>
          </a:stretch>
        </p:blipFill>
        <p:spPr>
          <a:xfrm>
            <a:off x="7605280" y="2039153"/>
            <a:ext cx="4074930" cy="2372191"/>
          </a:xfrm>
          <a:prstGeom prst="rect">
            <a:avLst/>
          </a:prstGeom>
        </p:spPr>
      </p:pic>
      <p:sp>
        <p:nvSpPr>
          <p:cNvPr id="10" name="CuadroTexto 9">
            <a:extLst>
              <a:ext uri="{FF2B5EF4-FFF2-40B4-BE49-F238E27FC236}">
                <a16:creationId xmlns:a16="http://schemas.microsoft.com/office/drawing/2014/main" id="{A8EB3889-77B4-A093-1062-B4A17836229C}"/>
              </a:ext>
            </a:extLst>
          </p:cNvPr>
          <p:cNvSpPr txBox="1"/>
          <p:nvPr/>
        </p:nvSpPr>
        <p:spPr>
          <a:xfrm>
            <a:off x="8157346" y="1549021"/>
            <a:ext cx="2622242" cy="369332"/>
          </a:xfrm>
          <a:prstGeom prst="rect">
            <a:avLst/>
          </a:prstGeom>
          <a:noFill/>
        </p:spPr>
        <p:txBody>
          <a:bodyPr wrap="square" rtlCol="0">
            <a:spAutoFit/>
          </a:bodyPr>
          <a:lstStyle/>
          <a:p>
            <a:pPr algn="ctr"/>
            <a:r>
              <a:rPr lang="es-ES" b="1" err="1"/>
              <a:t>SiNx</a:t>
            </a:r>
            <a:endParaRPr lang="es-ES" b="1"/>
          </a:p>
        </p:txBody>
      </p:sp>
    </p:spTree>
    <p:extLst>
      <p:ext uri="{BB962C8B-B14F-4D97-AF65-F5344CB8AC3E}">
        <p14:creationId xmlns:p14="http://schemas.microsoft.com/office/powerpoint/2010/main" val="2377207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0E81A-2113-1CFB-2285-7F93F1E76D9C}"/>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10FA8F93-4A2D-05D0-816F-E6E0D63E4E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CE354F8-CAE7-7393-3EB7-CBCF2C4442BE}"/>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93230014-E536-F738-F109-8059888DE378}"/>
              </a:ext>
            </a:extLst>
          </p:cNvPr>
          <p:cNvSpPr>
            <a:spLocks noGrp="1"/>
          </p:cNvSpPr>
          <p:nvPr>
            <p:ph type="ftr" sz="quarter" idx="5"/>
          </p:nvPr>
        </p:nvSpPr>
        <p:spPr/>
        <p:txBody>
          <a:bodyPr/>
          <a:lstStyle/>
          <a:p>
            <a:pPr marL="12700">
              <a:spcBef>
                <a:spcPts val="15"/>
              </a:spcBef>
            </a:pPr>
            <a:r>
              <a:rPr lang="es-ES" spc="-5"/>
              <a:t>LAB 1.0 WAVEGUIDES</a:t>
            </a:r>
          </a:p>
        </p:txBody>
      </p:sp>
      <p:sp>
        <p:nvSpPr>
          <p:cNvPr id="2" name="CuadroTexto 1">
            <a:extLst>
              <a:ext uri="{FF2B5EF4-FFF2-40B4-BE49-F238E27FC236}">
                <a16:creationId xmlns:a16="http://schemas.microsoft.com/office/drawing/2014/main" id="{14A7C0E5-E359-C6F9-D850-ABCBC38C2336}"/>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err="1">
                <a:latin typeface="Arial" panose="020B0604020202020204" pitchFamily="34" charset="0"/>
                <a:cs typeface="Arial" panose="020B0604020202020204" pitchFamily="34" charset="0"/>
              </a:rPr>
              <a:t>Considerando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criterio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utilizado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anteriormente</a:t>
            </a:r>
            <a:r>
              <a:rPr lang="en-US" sz="1200" dirty="0">
                <a:latin typeface="Arial" panose="020B0604020202020204" pitchFamily="34" charset="0"/>
                <a:cs typeface="Arial" panose="020B0604020202020204" pitchFamily="34" charset="0"/>
              </a:rPr>
              <a:t> (0.1 dB de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todos los radios analizados en SOI (de 5 a 30 µm) resultan seguros, ya que las pérdidas máximas apenas alcanzan los 0.02 dB. Este rendimiento es muy superior al del nitruro de silicio, lo que permitiría establecer un umbral de diseño mucho más restrictivo</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El alto índice de refracción del silicio produce un mayor confinamiento, minimizando la fuga de luz en las curvas incluso en radios muy reducidos. </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C1F74E3-A64F-3B58-5FF7-E4659C7D4474}"/>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16">
            <a:extLst>
              <a:ext uri="{FF2B5EF4-FFF2-40B4-BE49-F238E27FC236}">
                <a16:creationId xmlns:a16="http://schemas.microsoft.com/office/drawing/2014/main" id="{DD964439-A54C-9B9D-0C16-4E72323BB863}"/>
              </a:ext>
            </a:extLst>
          </p:cNvPr>
          <p:cNvSpPr txBox="1">
            <a:spLocks/>
          </p:cNvSpPr>
          <p:nvPr/>
        </p:nvSpPr>
        <p:spPr>
          <a:xfrm>
            <a:off x="685800" y="408883"/>
            <a:ext cx="10994410" cy="1487587"/>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EXTRA – Safe radius Silicon-On-Insulator</a:t>
            </a:r>
            <a:br>
              <a:rPr lang="en-US" sz="2500" kern="0"/>
            </a:br>
            <a:r>
              <a:rPr lang="en-US" b="0"/>
              <a:t>Wavelength 1.5 µm – 220 nm </a:t>
            </a:r>
            <a:r>
              <a:rPr lang="en-US" b="0" err="1"/>
              <a:t>heigth</a:t>
            </a:r>
            <a:r>
              <a:rPr lang="en-US" b="0"/>
              <a:t>. </a:t>
            </a:r>
          </a:p>
          <a:p>
            <a:pPr marL="12700">
              <a:spcBef>
                <a:spcPts val="100"/>
              </a:spcBef>
            </a:pPr>
            <a:br>
              <a:rPr lang="en-US" sz="2500" kern="0"/>
            </a:br>
            <a:endParaRPr lang="en-US" sz="2500" b="0" kern="0">
              <a:latin typeface="+mj-lt"/>
              <a:cs typeface="Lucida Sans"/>
            </a:endParaRPr>
          </a:p>
        </p:txBody>
      </p:sp>
      <p:pic>
        <p:nvPicPr>
          <p:cNvPr id="7" name="Imagen 6">
            <a:extLst>
              <a:ext uri="{FF2B5EF4-FFF2-40B4-BE49-F238E27FC236}">
                <a16:creationId xmlns:a16="http://schemas.microsoft.com/office/drawing/2014/main" id="{1573E90A-BC30-B0F0-68FA-BDE467FCD437}"/>
              </a:ext>
            </a:extLst>
          </p:cNvPr>
          <p:cNvPicPr>
            <a:picLocks noChangeAspect="1"/>
          </p:cNvPicPr>
          <p:nvPr/>
        </p:nvPicPr>
        <p:blipFill>
          <a:blip r:embed="rId5"/>
          <a:stretch>
            <a:fillRect/>
          </a:stretch>
        </p:blipFill>
        <p:spPr>
          <a:xfrm>
            <a:off x="4120280" y="1468416"/>
            <a:ext cx="4178292" cy="3205941"/>
          </a:xfrm>
          <a:prstGeom prst="rect">
            <a:avLst/>
          </a:prstGeom>
        </p:spPr>
      </p:pic>
    </p:spTree>
    <p:extLst>
      <p:ext uri="{BB962C8B-B14F-4D97-AF65-F5344CB8AC3E}">
        <p14:creationId xmlns:p14="http://schemas.microsoft.com/office/powerpoint/2010/main" val="3996067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DF81A-9FDA-6E53-C053-936806546597}"/>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7108BE4D-8231-7F63-CA60-22FA5CE12E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FD7F154-30BA-3A88-B100-C6F63046F4DB}"/>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E59EC28F-B5B1-531A-16AD-3ED0CDBDC45F}"/>
              </a:ext>
            </a:extLst>
          </p:cNvPr>
          <p:cNvSpPr>
            <a:spLocks noGrp="1"/>
          </p:cNvSpPr>
          <p:nvPr>
            <p:ph type="ftr" sz="quarter" idx="5"/>
          </p:nvPr>
        </p:nvSpPr>
        <p:spPr/>
        <p:txBody>
          <a:bodyPr/>
          <a:lstStyle/>
          <a:p>
            <a:pPr marL="12700">
              <a:spcBef>
                <a:spcPts val="15"/>
              </a:spcBef>
            </a:pPr>
            <a:r>
              <a:rPr lang="es-ES" spc="-5"/>
              <a:t>LAB 1.0 WAVEGUIDES</a:t>
            </a:r>
          </a:p>
        </p:txBody>
      </p:sp>
      <p:sp>
        <p:nvSpPr>
          <p:cNvPr id="12" name="object 16">
            <a:extLst>
              <a:ext uri="{FF2B5EF4-FFF2-40B4-BE49-F238E27FC236}">
                <a16:creationId xmlns:a16="http://schemas.microsoft.com/office/drawing/2014/main" id="{B5FA5B3E-7EF1-C34C-FD5B-99FBFE51C761}"/>
              </a:ext>
            </a:extLst>
          </p:cNvPr>
          <p:cNvSpPr txBox="1">
            <a:spLocks/>
          </p:cNvSpPr>
          <p:nvPr/>
        </p:nvSpPr>
        <p:spPr>
          <a:xfrm>
            <a:off x="685800" y="408883"/>
            <a:ext cx="10994410" cy="1487587"/>
          </a:xfrm>
          <a:prstGeom prst="rect">
            <a:avLst/>
          </a:prstGeom>
        </p:spPr>
        <p:txBody>
          <a:bodyPr vert="horz" wrap="square" lIns="0" tIns="12700" rIns="0" bIns="0" rtlCol="0" anchor="t">
            <a:spAutoFit/>
          </a:bodyPr>
          <a:lstStyle>
            <a:lvl1pPr>
              <a:defRPr sz="2000" b="1" i="0">
                <a:solidFill>
                  <a:schemeClr val="tx1"/>
                </a:solidFill>
                <a:latin typeface="Calibri"/>
                <a:ea typeface="+mj-ea"/>
                <a:cs typeface="Calibri"/>
              </a:defRPr>
            </a:lvl1pPr>
          </a:lstStyle>
          <a:p>
            <a:pPr marL="12700">
              <a:spcBef>
                <a:spcPts val="100"/>
              </a:spcBef>
            </a:pPr>
            <a:r>
              <a:rPr lang="en-US" sz="2500" kern="0"/>
              <a:t>EXTRA – </a:t>
            </a:r>
            <a:r>
              <a:rPr lang="en-US" sz="2500" kern="0" dirty="0" err="1"/>
              <a:t>Tabla</a:t>
            </a:r>
            <a:r>
              <a:rPr lang="en-US" sz="2500" kern="0" dirty="0"/>
              <a:t> </a:t>
            </a:r>
            <a:r>
              <a:rPr lang="en-US" sz="2500" kern="0" dirty="0" err="1"/>
              <a:t>Comparativa</a:t>
            </a:r>
            <a:br>
              <a:rPr lang="en-US" sz="2500" kern="0"/>
            </a:br>
            <a:endParaRPr lang="en-US" b="0" u="sng"/>
          </a:p>
          <a:p>
            <a:pPr marL="12700">
              <a:spcBef>
                <a:spcPts val="100"/>
              </a:spcBef>
            </a:pPr>
            <a:br>
              <a:rPr lang="en-US" sz="2500" kern="0"/>
            </a:br>
            <a:endParaRPr lang="en-US" sz="2500" b="0" kern="0">
              <a:latin typeface="+mj-lt"/>
              <a:cs typeface="Lucida Sans"/>
            </a:endParaRPr>
          </a:p>
        </p:txBody>
      </p:sp>
      <p:graphicFrame>
        <p:nvGraphicFramePr>
          <p:cNvPr id="4" name="Tabla 3">
            <a:extLst>
              <a:ext uri="{FF2B5EF4-FFF2-40B4-BE49-F238E27FC236}">
                <a16:creationId xmlns:a16="http://schemas.microsoft.com/office/drawing/2014/main" id="{8BBC081E-21F8-2F9E-4FE1-63EE1D258E3B}"/>
              </a:ext>
            </a:extLst>
          </p:cNvPr>
          <p:cNvGraphicFramePr>
            <a:graphicFrameLocks noGrp="1"/>
          </p:cNvGraphicFramePr>
          <p:nvPr>
            <p:extLst>
              <p:ext uri="{D42A27DB-BD31-4B8C-83A1-F6EECF244321}">
                <p14:modId xmlns:p14="http://schemas.microsoft.com/office/powerpoint/2010/main" val="590510374"/>
              </p:ext>
            </p:extLst>
          </p:nvPr>
        </p:nvGraphicFramePr>
        <p:xfrm>
          <a:off x="136599" y="1351411"/>
          <a:ext cx="11918801" cy="3987998"/>
        </p:xfrm>
        <a:graphic>
          <a:graphicData uri="http://schemas.openxmlformats.org/drawingml/2006/table">
            <a:tbl>
              <a:tblPr firstRow="1" bandRow="1">
                <a:tableStyleId>{93296810-A885-4BE3-A3E7-6D5BEEA58F35}</a:tableStyleId>
              </a:tblPr>
              <a:tblGrid>
                <a:gridCol w="3717646">
                  <a:extLst>
                    <a:ext uri="{9D8B030D-6E8A-4147-A177-3AD203B41FA5}">
                      <a16:colId xmlns:a16="http://schemas.microsoft.com/office/drawing/2014/main" val="2965811631"/>
                    </a:ext>
                  </a:extLst>
                </a:gridCol>
                <a:gridCol w="4109884">
                  <a:extLst>
                    <a:ext uri="{9D8B030D-6E8A-4147-A177-3AD203B41FA5}">
                      <a16:colId xmlns:a16="http://schemas.microsoft.com/office/drawing/2014/main" val="85588401"/>
                    </a:ext>
                  </a:extLst>
                </a:gridCol>
                <a:gridCol w="4091271">
                  <a:extLst>
                    <a:ext uri="{9D8B030D-6E8A-4147-A177-3AD203B41FA5}">
                      <a16:colId xmlns:a16="http://schemas.microsoft.com/office/drawing/2014/main" val="1482333343"/>
                    </a:ext>
                  </a:extLst>
                </a:gridCol>
              </a:tblGrid>
              <a:tr h="472900">
                <a:tc>
                  <a:txBody>
                    <a:bodyPr/>
                    <a:lstStyle/>
                    <a:p>
                      <a:r>
                        <a:rPr lang="es-ES" dirty="0"/>
                        <a:t>Parámetro</a:t>
                      </a:r>
                    </a:p>
                  </a:txBody>
                  <a:tcPr/>
                </a:tc>
                <a:tc>
                  <a:txBody>
                    <a:bodyPr/>
                    <a:lstStyle/>
                    <a:p>
                      <a:r>
                        <a:rPr lang="es-ES" dirty="0"/>
                        <a:t>Nitruro de Silicio (</a:t>
                      </a:r>
                      <a:r>
                        <a:rPr lang="es-ES" dirty="0" err="1"/>
                        <a:t>SiNx</a:t>
                      </a:r>
                      <a:r>
                        <a:rPr lang="es-ES" dirty="0"/>
                        <a:t>)</a:t>
                      </a:r>
                    </a:p>
                  </a:txBody>
                  <a:tcPr/>
                </a:tc>
                <a:tc>
                  <a:txBody>
                    <a:bodyPr/>
                    <a:lstStyle/>
                    <a:p>
                      <a:r>
                        <a:rPr lang="es-ES" dirty="0"/>
                        <a:t>Silicon-</a:t>
                      </a:r>
                      <a:r>
                        <a:rPr lang="es-ES" dirty="0" err="1"/>
                        <a:t>On</a:t>
                      </a:r>
                      <a:r>
                        <a:rPr lang="es-ES" dirty="0"/>
                        <a:t>-</a:t>
                      </a:r>
                      <a:r>
                        <a:rPr lang="es-ES" dirty="0" err="1"/>
                        <a:t>Insulator</a:t>
                      </a:r>
                      <a:r>
                        <a:rPr lang="es-ES" dirty="0"/>
                        <a:t> (SOI)</a:t>
                      </a:r>
                    </a:p>
                  </a:txBody>
                  <a:tcPr/>
                </a:tc>
                <a:extLst>
                  <a:ext uri="{0D108BD9-81ED-4DB2-BD59-A6C34878D82A}">
                    <a16:rowId xmlns:a16="http://schemas.microsoft.com/office/drawing/2014/main" val="1960793312"/>
                  </a:ext>
                </a:extLst>
              </a:tr>
              <a:tr h="816238">
                <a:tc>
                  <a:txBody>
                    <a:bodyPr/>
                    <a:lstStyle/>
                    <a:p>
                      <a:r>
                        <a:rPr lang="es-ES" dirty="0"/>
                        <a:t>Índice de refracción del </a:t>
                      </a:r>
                      <a:r>
                        <a:rPr lang="es-ES" dirty="0" err="1"/>
                        <a:t>core</a:t>
                      </a:r>
                      <a:endParaRPr lang="es-ES" dirty="0"/>
                    </a:p>
                  </a:txBody>
                  <a:tcPr/>
                </a:tc>
                <a:tc>
                  <a:txBody>
                    <a:bodyPr/>
                    <a:lstStyle/>
                    <a:p>
                      <a:r>
                        <a:rPr lang="es-ES" dirty="0"/>
                        <a:t>1,999</a:t>
                      </a:r>
                    </a:p>
                  </a:txBody>
                  <a:tcPr/>
                </a:tc>
                <a:tc>
                  <a:txBody>
                    <a:bodyPr/>
                    <a:lstStyle/>
                    <a:p>
                      <a:r>
                        <a:rPr lang="es-ES" dirty="0"/>
                        <a:t>3,48</a:t>
                      </a:r>
                    </a:p>
                  </a:txBody>
                  <a:tcPr/>
                </a:tc>
                <a:extLst>
                  <a:ext uri="{0D108BD9-81ED-4DB2-BD59-A6C34878D82A}">
                    <a16:rowId xmlns:a16="http://schemas.microsoft.com/office/drawing/2014/main" val="2348382952"/>
                  </a:ext>
                </a:extLst>
              </a:tr>
              <a:tr h="472900">
                <a:tc>
                  <a:txBody>
                    <a:bodyPr/>
                    <a:lstStyle/>
                    <a:p>
                      <a:r>
                        <a:rPr lang="es-ES" dirty="0"/>
                        <a:t>Contraste de índice (comparado con </a:t>
                      </a:r>
                      <a:r>
                        <a:rPr lang="es-ES" dirty="0" err="1"/>
                        <a:t>cladding</a:t>
                      </a:r>
                      <a:r>
                        <a:rPr lang="es-ES" dirty="0"/>
                        <a:t> SiO2)</a:t>
                      </a:r>
                    </a:p>
                  </a:txBody>
                  <a:tcPr/>
                </a:tc>
                <a:tc>
                  <a:txBody>
                    <a:bodyPr/>
                    <a:lstStyle/>
                    <a:p>
                      <a:r>
                        <a:rPr lang="es-ES" dirty="0"/>
                        <a:t>1,999 - 1,457 = 0,542</a:t>
                      </a:r>
                    </a:p>
                  </a:txBody>
                  <a:tcPr/>
                </a:tc>
                <a:tc>
                  <a:txBody>
                    <a:bodyPr/>
                    <a:lstStyle/>
                    <a:p>
                      <a:r>
                        <a:rPr lang="es-ES" dirty="0"/>
                        <a:t>3,48 – 1,457 = 2,023</a:t>
                      </a:r>
                    </a:p>
                  </a:txBody>
                  <a:tcPr/>
                </a:tc>
                <a:extLst>
                  <a:ext uri="{0D108BD9-81ED-4DB2-BD59-A6C34878D82A}">
                    <a16:rowId xmlns:a16="http://schemas.microsoft.com/office/drawing/2014/main" val="2159286371"/>
                  </a:ext>
                </a:extLst>
              </a:tr>
              <a:tr h="472900">
                <a:tc>
                  <a:txBody>
                    <a:bodyPr/>
                    <a:lstStyle/>
                    <a:p>
                      <a:r>
                        <a:rPr lang="es-ES" dirty="0"/>
                        <a:t>Confinamiento del modo</a:t>
                      </a:r>
                    </a:p>
                  </a:txBody>
                  <a:tcPr/>
                </a:tc>
                <a:tc>
                  <a:txBody>
                    <a:bodyPr/>
                    <a:lstStyle/>
                    <a:p>
                      <a:r>
                        <a:rPr lang="es-ES" dirty="0"/>
                        <a:t>Menor</a:t>
                      </a:r>
                    </a:p>
                  </a:txBody>
                  <a:tcPr/>
                </a:tc>
                <a:tc>
                  <a:txBody>
                    <a:bodyPr/>
                    <a:lstStyle/>
                    <a:p>
                      <a:r>
                        <a:rPr lang="es-ES" dirty="0"/>
                        <a:t>Mayor (por tener mayor contraste de índice)</a:t>
                      </a:r>
                    </a:p>
                  </a:txBody>
                  <a:tcPr/>
                </a:tc>
                <a:extLst>
                  <a:ext uri="{0D108BD9-81ED-4DB2-BD59-A6C34878D82A}">
                    <a16:rowId xmlns:a16="http://schemas.microsoft.com/office/drawing/2014/main" val="1757598308"/>
                  </a:ext>
                </a:extLst>
              </a:tr>
              <a:tr h="472900">
                <a:tc>
                  <a:txBody>
                    <a:bodyPr/>
                    <a:lstStyle/>
                    <a:p>
                      <a:r>
                        <a:rPr lang="es-ES" dirty="0"/>
                        <a:t>Radio seguro (Pérdidas &lt; 0.1 dB)</a:t>
                      </a:r>
                    </a:p>
                  </a:txBody>
                  <a:tcPr/>
                </a:tc>
                <a:tc>
                  <a:txBody>
                    <a:bodyPr/>
                    <a:lstStyle/>
                    <a:p>
                      <a:r>
                        <a:rPr lang="es-ES" dirty="0"/>
                        <a:t>&gt; 37.5 µm</a:t>
                      </a:r>
                    </a:p>
                  </a:txBody>
                  <a:tcPr/>
                </a:tc>
                <a:tc>
                  <a:txBody>
                    <a:bodyPr/>
                    <a:lstStyle/>
                    <a:p>
                      <a:r>
                        <a:rPr lang="es-ES" dirty="0"/>
                        <a:t>&lt; 5 µm (Todo el rango analizado)</a:t>
                      </a:r>
                    </a:p>
                  </a:txBody>
                  <a:tcPr/>
                </a:tc>
                <a:extLst>
                  <a:ext uri="{0D108BD9-81ED-4DB2-BD59-A6C34878D82A}">
                    <a16:rowId xmlns:a16="http://schemas.microsoft.com/office/drawing/2014/main" val="3019654649"/>
                  </a:ext>
                </a:extLst>
              </a:tr>
              <a:tr h="472900">
                <a:tc>
                  <a:txBody>
                    <a:bodyPr/>
                    <a:lstStyle/>
                    <a:p>
                      <a:r>
                        <a:rPr lang="es-ES" dirty="0"/>
                        <a:t>Modos guiados Deep a 1550 nm</a:t>
                      </a:r>
                    </a:p>
                  </a:txBody>
                  <a:tcPr/>
                </a:tc>
                <a:tc>
                  <a:txBody>
                    <a:bodyPr/>
                    <a:lstStyle/>
                    <a:p>
                      <a:r>
                        <a:rPr lang="es-ES" dirty="0"/>
                        <a:t>2 modos (TE0 y TM0)</a:t>
                      </a:r>
                    </a:p>
                  </a:txBody>
                  <a:tcPr/>
                </a:tc>
                <a:tc>
                  <a:txBody>
                    <a:bodyPr/>
                    <a:lstStyle/>
                    <a:p>
                      <a:r>
                        <a:rPr lang="es-ES" dirty="0"/>
                        <a:t>3 modos (TE0, TM0 y TE1)</a:t>
                      </a:r>
                    </a:p>
                  </a:txBody>
                  <a:tcPr/>
                </a:tc>
                <a:extLst>
                  <a:ext uri="{0D108BD9-81ED-4DB2-BD59-A6C34878D82A}">
                    <a16:rowId xmlns:a16="http://schemas.microsoft.com/office/drawing/2014/main" val="762965579"/>
                  </a:ext>
                </a:extLst>
              </a:tr>
              <a:tr h="472900">
                <a:tc>
                  <a:txBody>
                    <a:bodyPr/>
                    <a:lstStyle/>
                    <a:p>
                      <a:r>
                        <a:rPr lang="es-ES" dirty="0"/>
                        <a:t>Modos guiados </a:t>
                      </a:r>
                      <a:r>
                        <a:rPr lang="es-ES" dirty="0" err="1"/>
                        <a:t>Shallow</a:t>
                      </a:r>
                      <a:r>
                        <a:rPr lang="es-ES" dirty="0"/>
                        <a:t> a 1550 nm</a:t>
                      </a:r>
                    </a:p>
                  </a:txBody>
                  <a:tcPr/>
                </a:tc>
                <a:tc>
                  <a:txBody>
                    <a:bodyPr/>
                    <a:lstStyle/>
                    <a:p>
                      <a:r>
                        <a:rPr lang="es-ES" dirty="0"/>
                        <a:t>Al menos 4 modos (TE0, TM0, TE1 y TM1) </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dirty="0"/>
                        <a:t>Al menos 4 modos (TE0, TM0, TE1 y TM1) </a:t>
                      </a:r>
                    </a:p>
                  </a:txBody>
                  <a:tcPr/>
                </a:tc>
                <a:extLst>
                  <a:ext uri="{0D108BD9-81ED-4DB2-BD59-A6C34878D82A}">
                    <a16:rowId xmlns:a16="http://schemas.microsoft.com/office/drawing/2014/main" val="1308482052"/>
                  </a:ext>
                </a:extLst>
              </a:tr>
            </a:tbl>
          </a:graphicData>
        </a:graphic>
      </p:graphicFrame>
    </p:spTree>
    <p:extLst>
      <p:ext uri="{BB962C8B-B14F-4D97-AF65-F5344CB8AC3E}">
        <p14:creationId xmlns:p14="http://schemas.microsoft.com/office/powerpoint/2010/main" val="331537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CC4DD7C0F8D9C4DB29B1ED4F8D28B8D" ma:contentTypeVersion="15" ma:contentTypeDescription="Crear nuevo documento." ma:contentTypeScope="" ma:versionID="134c5befb317032157010dd750be6d3b">
  <xsd:schema xmlns:xsd="http://www.w3.org/2001/XMLSchema" xmlns:xs="http://www.w3.org/2001/XMLSchema" xmlns:p="http://schemas.microsoft.com/office/2006/metadata/properties" xmlns:ns3="3bf47172-27aa-4a2f-8f37-f92110d84435" xmlns:ns4="2c2f05de-f9b6-4cb4-be85-8455cfd9d601" targetNamespace="http://schemas.microsoft.com/office/2006/metadata/properties" ma:root="true" ma:fieldsID="79e754fd8d67094cdaa559dd97614733" ns3:_="" ns4:_="">
    <xsd:import namespace="3bf47172-27aa-4a2f-8f37-f92110d84435"/>
    <xsd:import namespace="2c2f05de-f9b6-4cb4-be85-8455cfd9d60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SearchProperties" minOccurs="0"/>
                <xsd:element ref="ns3:_activity"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f47172-27aa-4a2f-8f37-f92110d84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_activity" ma:index="16" nillable="true" ma:displayName="_activity" ma:hidden="true" ma:internalName="_activity">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c2f05de-f9b6-4cb4-be85-8455cfd9d601"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3bf47172-27aa-4a2f-8f37-f92110d84435" xsi:nil="true"/>
  </documentManagement>
</p:properties>
</file>

<file path=customXml/itemProps1.xml><?xml version="1.0" encoding="utf-8"?>
<ds:datastoreItem xmlns:ds="http://schemas.openxmlformats.org/officeDocument/2006/customXml" ds:itemID="{11DD4D8E-FAC1-4F20-94AE-8BC6ECD14C48}">
  <ds:schemaRefs>
    <ds:schemaRef ds:uri="http://schemas.microsoft.com/sharepoint/v3/contenttype/forms"/>
  </ds:schemaRefs>
</ds:datastoreItem>
</file>

<file path=customXml/itemProps2.xml><?xml version="1.0" encoding="utf-8"?>
<ds:datastoreItem xmlns:ds="http://schemas.openxmlformats.org/officeDocument/2006/customXml" ds:itemID="{908E40EA-F5C9-46FF-BA4C-3FB7F797BF6E}">
  <ds:schemaRefs>
    <ds:schemaRef ds:uri="2c2f05de-f9b6-4cb4-be85-8455cfd9d601"/>
    <ds:schemaRef ds:uri="3bf47172-27aa-4a2f-8f37-f92110d844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8E33E16-20CD-46D8-BF17-1AD066799403}">
  <ds:schemaRefs>
    <ds:schemaRef ds:uri="http://schemas.openxmlformats.org/package/2006/metadata/core-properties"/>
    <ds:schemaRef ds:uri="http://purl.org/dc/elements/1.1/"/>
    <ds:schemaRef ds:uri="http://schemas.microsoft.com/office/2006/metadata/properties"/>
    <ds:schemaRef ds:uri="3bf47172-27aa-4a2f-8f37-f92110d84435"/>
    <ds:schemaRef ds:uri="http://schemas.microsoft.com/office/2006/documentManagement/types"/>
    <ds:schemaRef ds:uri="http://purl.org/dc/terms/"/>
    <ds:schemaRef ds:uri="http://purl.org/dc/dcmitype/"/>
    <ds:schemaRef ds:uri="http://schemas.microsoft.com/office/infopath/2007/PartnerControls"/>
    <ds:schemaRef ds:uri="http://www.w3.org/XML/1998/namespace"/>
    <ds:schemaRef ds:uri="2c2f05de-f9b6-4cb4-be85-8455cfd9d601"/>
  </ds:schemaRefs>
</ds:datastoreItem>
</file>

<file path=docProps/app.xml><?xml version="1.0" encoding="utf-8"?>
<Properties xmlns="http://schemas.openxmlformats.org/officeDocument/2006/extended-properties" xmlns:vt="http://schemas.openxmlformats.org/officeDocument/2006/docPropsVTypes">
  <Template/>
  <TotalTime>2</TotalTime>
  <Words>2014</Words>
  <Application>Microsoft Office PowerPoint</Application>
  <PresentationFormat>Panorámica</PresentationFormat>
  <Paragraphs>153</Paragraphs>
  <Slides>14</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#1 – Effective index of a waveguide </vt:lpstr>
      <vt:lpstr>Learning outcome #2 – Wavelength behavior Wavelength 1.5-1.6 µm (step 0.01 µm) – width 1.2 µm</vt:lpstr>
      <vt:lpstr>Learning outcome #3 – Width dependence Width 0.6 - 1.6 µm (step 0.1 µm) – Wavelength 1.55 µm </vt:lpstr>
      <vt:lpstr>Learning outcome #4 – Waveguide compact model - Find the compact models of the following waveguides:  Deep waveguide, h=300nm, w=1.2um   - Shallow waveguide, core h=300nm, slab h=150 nm, w = 1.2um  </vt:lpstr>
      <vt:lpstr>Learning outcome #5 – Bend waveguide radius vs. loss – deep Find  neff_TE0 for wvl 1.55 µm, width 1.2 µm for R=25,50,75,100, 125,150 µm </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Antonio Gonzalez Lopez</cp:lastModifiedBy>
  <cp:revision>2</cp:revision>
  <dcterms:created xsi:type="dcterms:W3CDTF">2025-01-27T02:46:57Z</dcterms:created>
  <dcterms:modified xsi:type="dcterms:W3CDTF">2026-03-14T18:11:27Z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0x010100ACC4DD7C0F8D9C4DB29B1ED4F8D28B8D</vt:lpwstr>
  </property>
</Properties>
</file>